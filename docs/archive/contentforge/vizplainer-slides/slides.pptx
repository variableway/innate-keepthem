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notesMasterIdLst>
    <p:notesMasterId r:id="rId8"/>
  </p:notesMasterIdLst>
  <p:sldSz cx="12192000" cy="68580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customXml" Target="../customXml/item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&lt;!--pageType:cover--&gt;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&lt;!--pageType:table_of_contents--&gt;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&lt;!--pageType:chapter--&gt;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&lt;!--pageType:content--&gt;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&lt;!--pageType:chapter--&gt;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&lt;!--pageType:content--&gt;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&lt;!--pageType:content--&gt;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&lt;!--pageType:content--&gt;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&lt;!--pageType:chapter--&gt;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&lt;!--pageType:content--&gt;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&lt;!--pageType:content--&gt;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&lt;!--pageType:final--&gt;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hyperlink" Target="https://www.vizplainer.com/" TargetMode="External"/><Relationship Id="rId4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hyperlink" Target="https://www.vizplainer.com/" TargetMode="External"/><Relationship Id="rId7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hyperlink" Target="https://www.vizplainer.com/" TargetMode="External"/><Relationship Id="rId5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5.png"/><Relationship Id="rId4" Type="http://schemas.openxmlformats.org/officeDocument/2006/relationships/image" Target="../media/image10.png"/><Relationship Id="rId5" Type="http://schemas.openxmlformats.org/officeDocument/2006/relationships/hyperlink" Target="https://www.vizplainer.com/" TargetMode="External"/><Relationship Id="rId6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Relationship Id="rId4" Type="http://schemas.openxmlformats.org/officeDocument/2006/relationships/image" Target="../media/image10.png"/><Relationship Id="rId5" Type="http://schemas.openxmlformats.org/officeDocument/2006/relationships/hyperlink" Target="https://www.vizplainer.com/" TargetMode="External"/><Relationship Id="rId6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Relationship Id="rId4" Type="http://schemas.openxmlformats.org/officeDocument/2006/relationships/image" Target="../media/image15.png"/><Relationship Id="rId5" Type="http://schemas.openxmlformats.org/officeDocument/2006/relationships/hyperlink" Target="https://www.vizplainer.com/" TargetMode="External"/><Relationship Id="rId6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vizplainer.com/" TargetMode="Externa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A0E1A"/>
            </a:gs>
            <a:gs pos="50000">
              <a:srgbClr val="0F1530"/>
            </a:gs>
            <a:gs pos="100000">
              <a:srgbClr val="141B2D"/>
            </a:gs>
          </a:gsLst>
          <a:lin scaled="1" ang="8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dsl:bg-glow"/>
          <p:cNvSpPr/>
          <p:nvPr/>
        </p:nvSpPr>
        <p:spPr>
          <a:xfrm>
            <a:off x="4191000" y="1143000"/>
            <a:ext cx="3810000" cy="3810000"/>
          </a:xfrm>
          <a:prstGeom prst="ellipse">
            <a:avLst/>
          </a:prstGeom>
          <a:gradFill rotWithShape="1">
            <a:gsLst>
              <a:gs pos="0">
                <a:srgbClr val="4285F4">
                  <a:alpha val="12549"/>
                </a:srgbClr>
              </a:gs>
              <a:gs pos="100000">
                <a:srgbClr val="4285F4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dsl:logo-icon|i=fab:google" descr="tmp11qvtf8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67400" y="1333500"/>
            <a:ext cx="457200" cy="457200"/>
          </a:xfrm>
          <a:prstGeom prst="rect">
            <a:avLst/>
          </a:prstGeom>
          <a:ln>
            <a:noFill/>
          </a:ln>
          <a:effectLst/>
        </p:spPr>
      </p:pic>
      <p:sp>
        <p:nvSpPr>
          <p:cNvPr id="4" name="dsl:main-title|s=$heroTitle"/>
          <p:cNvSpPr txBox="1"/>
          <p:nvPr/>
        </p:nvSpPr>
        <p:spPr>
          <a:xfrm>
            <a:off x="1333500" y="2095500"/>
            <a:ext cx="9525000" cy="7620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/>
            <a:r>
              <a:rPr b="1" sz="4200" noProof="1" spc="-75">
                <a:solidFill>
                  <a:srgbClr val="E8ECF1"/>
                </a:solidFill>
                <a:latin typeface="MiSans"/>
                <a:ea typeface="MiSans"/>
              </a:rPr>
              <a:t>Alphabet Q3 2025</a:t>
            </a:r>
          </a:p>
        </p:txBody>
      </p:sp>
      <p:sp>
        <p:nvSpPr>
          <p:cNvPr id="5" name="dsl:subtitle|s=$subtitle"/>
          <p:cNvSpPr txBox="1"/>
          <p:nvPr/>
        </p:nvSpPr>
        <p:spPr>
          <a:xfrm>
            <a:off x="2286000" y="2952750"/>
            <a:ext cx="7620000" cy="3810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>
              <a:lnSpc>
                <a:spcPct val="140000"/>
              </a:lnSpc>
            </a:pPr>
            <a:r>
              <a:rPr sz="1800" noProof="1">
                <a:solidFill>
                  <a:srgbClr val="8B95A5"/>
                </a:solidFill>
                <a:latin typeface="MiSans"/>
                <a:ea typeface="MiSans"/>
              </a:rPr>
              <a:t>Earnings Deep Dive</a:t>
            </a:r>
          </a:p>
        </p:txBody>
      </p:sp>
      <p:sp>
        <p:nvSpPr>
          <p:cNvPr id="6" name="dsl:tagline"/>
          <p:cNvSpPr txBox="1"/>
          <p:nvPr/>
        </p:nvSpPr>
        <p:spPr>
          <a:xfrm>
            <a:off x="1809750" y="3619500"/>
            <a:ext cx="8572500" cy="5715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lnSpc>
                <a:spcPct val="140000"/>
              </a:lnSpc>
            </a:pPr>
            <a:r>
              <a:rPr i="1" sz="1650" noProof="1">
                <a:solidFill>
                  <a:srgbClr val="FBBC05"/>
                </a:solidFill>
                <a:latin typeface="MiSans"/>
                <a:ea typeface="MiSans"/>
              </a:rPr>
              <a:t>The "Death Spiral" Narrative Is Officially Dead</a:t>
            </a:r>
          </a:p>
        </p:txBody>
      </p:sp>
      <p:sp>
        <p:nvSpPr>
          <p:cNvPr id="7" name="dsl:divider"/>
          <p:cNvSpPr/>
          <p:nvPr/>
        </p:nvSpPr>
        <p:spPr>
          <a:xfrm>
            <a:off x="5143500" y="4476750"/>
            <a:ext cx="1905000" cy="19050"/>
          </a:xfrm>
          <a:prstGeom prst="rect">
            <a:avLst/>
          </a:prstGeom>
          <a:solidFill>
            <a:srgbClr val="2A3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dsl:badge-text|s=$caption"/>
          <p:cNvSpPr txBox="1"/>
          <p:nvPr/>
        </p:nvSpPr>
        <p:spPr>
          <a:xfrm>
            <a:off x="3238500" y="4762500"/>
            <a:ext cx="5715000" cy="2857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>
              <a:lnSpc>
                <a:spcPct val="140000"/>
              </a:lnSpc>
            </a:pPr>
            <a:r>
              <a:rPr sz="1050" noProof="1">
                <a:solidFill>
                  <a:srgbClr val="8B95A5"/>
                </a:solidFill>
                <a:latin typeface="MiSans"/>
                <a:ea typeface="MiSans"/>
              </a:rPr>
              <a:t>A Community-Powered Analysis  ·  Reddit  ·  Hacker News  ·  X</a:t>
            </a:r>
          </a:p>
        </p:txBody>
      </p:sp>
      <p:sp>
        <p:nvSpPr>
          <p:cNvPr id="9" name="dsl:date-text|s=$caption"/>
          <p:cNvSpPr txBox="1"/>
          <p:nvPr/>
        </p:nvSpPr>
        <p:spPr>
          <a:xfrm>
            <a:off x="4191000" y="5238750"/>
            <a:ext cx="3810000" cy="2286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>
              <a:lnSpc>
                <a:spcPct val="140000"/>
              </a:lnSpc>
            </a:pPr>
            <a:r>
              <a:rPr sz="1050" noProof="1">
                <a:solidFill>
                  <a:srgbClr val="8B95A5"/>
                </a:solidFill>
                <a:latin typeface="MiSans"/>
                <a:ea typeface="MiSans"/>
              </a:rPr>
              <a:t>July 2026  ·  Based on Vizplainer Research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toc-title|s=$title"/>
          <p:cNvSpPr txBox="1"/>
          <p:nvPr/>
        </p:nvSpPr>
        <p:spPr>
          <a:xfrm>
            <a:off x="571500" y="476250"/>
            <a:ext cx="4762500" cy="4762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b="1" sz="3000" noProof="1" spc="-37">
                <a:solidFill>
                  <a:srgbClr val="E8ECF1"/>
                </a:solidFill>
                <a:latin typeface="MiSans"/>
                <a:ea typeface="MiSans"/>
              </a:rPr>
              <a:t>Executive Overview</a:t>
            </a:r>
          </a:p>
        </p:txBody>
      </p:sp>
      <p:sp>
        <p:nvSpPr>
          <p:cNvPr id="3" name="dsl:toc-line"/>
          <p:cNvSpPr/>
          <p:nvPr/>
        </p:nvSpPr>
        <p:spPr>
          <a:xfrm>
            <a:off x="571500" y="1047750"/>
            <a:ext cx="571500" cy="38100"/>
          </a:xfrm>
          <a:prstGeom prst="rect">
            <a:avLst/>
          </a:prstGeom>
          <a:solidFill>
            <a:srgbClr val="428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sl:item1-num"/>
          <p:cNvSpPr txBox="1"/>
          <p:nvPr/>
        </p:nvSpPr>
        <p:spPr>
          <a:xfrm>
            <a:off x="571500" y="1524000"/>
            <a:ext cx="762000" cy="5715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3600" noProof="1">
                <a:solidFill>
                  <a:srgbClr val="4285F4"/>
                </a:solidFill>
                <a:latin typeface="MiSans"/>
                <a:ea typeface="MiSans"/>
              </a:rPr>
              <a:t>01</a:t>
            </a:r>
          </a:p>
        </p:txBody>
      </p:sp>
      <p:sp>
        <p:nvSpPr>
          <p:cNvPr id="5" name="dsl:item1-title"/>
          <p:cNvSpPr txBox="1"/>
          <p:nvPr/>
        </p:nvSpPr>
        <p:spPr>
          <a:xfrm>
            <a:off x="1428750" y="1524000"/>
            <a:ext cx="3810000" cy="3429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b="1" sz="1800" noProof="1">
                <a:solidFill>
                  <a:srgbClr val="E8ECF1"/>
                </a:solidFill>
                <a:latin typeface="MiSans"/>
                <a:ea typeface="MiSans"/>
              </a:rPr>
              <a:t>Financial Snapshot</a:t>
            </a:r>
          </a:p>
        </p:txBody>
      </p:sp>
      <p:sp>
        <p:nvSpPr>
          <p:cNvPr id="6" name="dsl:item1-desc|s=$caption"/>
          <p:cNvSpPr txBox="1"/>
          <p:nvPr/>
        </p:nvSpPr>
        <p:spPr>
          <a:xfrm>
            <a:off x="1428750" y="1905000"/>
            <a:ext cx="4762500" cy="2857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>
              <a:lnSpc>
                <a:spcPct val="140000"/>
              </a:lnSpc>
            </a:pPr>
            <a:r>
              <a:rPr sz="1050" noProof="1">
                <a:solidFill>
                  <a:srgbClr val="8B95A5"/>
                </a:solidFill>
                <a:latin typeface="MiSans"/>
                <a:ea typeface="MiSans"/>
              </a:rPr>
              <a:t>First-ever $100B quarter and headline numbers</a:t>
            </a:r>
          </a:p>
        </p:txBody>
      </p:sp>
      <p:sp>
        <p:nvSpPr>
          <p:cNvPr id="7" name="dsl:divider1"/>
          <p:cNvSpPr/>
          <p:nvPr/>
        </p:nvSpPr>
        <p:spPr>
          <a:xfrm>
            <a:off x="571500" y="2476500"/>
            <a:ext cx="11049000" cy="9525"/>
          </a:xfrm>
          <a:prstGeom prst="rect">
            <a:avLst/>
          </a:prstGeom>
          <a:solidFill>
            <a:srgbClr val="2A3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dsl:item2-num"/>
          <p:cNvSpPr txBox="1"/>
          <p:nvPr/>
        </p:nvSpPr>
        <p:spPr>
          <a:xfrm>
            <a:off x="571500" y="2762250"/>
            <a:ext cx="762000" cy="5715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3600" noProof="1">
                <a:solidFill>
                  <a:srgbClr val="4285F4"/>
                </a:solidFill>
                <a:latin typeface="MiSans"/>
                <a:ea typeface="MiSans"/>
              </a:rPr>
              <a:t>02</a:t>
            </a:r>
          </a:p>
        </p:txBody>
      </p:sp>
      <p:sp>
        <p:nvSpPr>
          <p:cNvPr id="9" name="dsl:item2-title"/>
          <p:cNvSpPr txBox="1"/>
          <p:nvPr/>
        </p:nvSpPr>
        <p:spPr>
          <a:xfrm>
            <a:off x="1428750" y="2762250"/>
            <a:ext cx="3810000" cy="3429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b="1" sz="1800" noProof="1">
                <a:solidFill>
                  <a:srgbClr val="E8ECF1"/>
                </a:solidFill>
                <a:latin typeface="MiSans"/>
                <a:ea typeface="MiSans"/>
              </a:rPr>
              <a:t>Three Core Insights</a:t>
            </a:r>
          </a:p>
        </p:txBody>
      </p:sp>
      <p:sp>
        <p:nvSpPr>
          <p:cNvPr id="10" name="dsl:item2-desc|s=$caption"/>
          <p:cNvSpPr txBox="1"/>
          <p:nvPr/>
        </p:nvSpPr>
        <p:spPr>
          <a:xfrm>
            <a:off x="1428750" y="3143250"/>
            <a:ext cx="5715000" cy="2857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>
              <a:lnSpc>
                <a:spcPct val="140000"/>
              </a:lnSpc>
            </a:pPr>
            <a:r>
              <a:rPr sz="1050" noProof="1">
                <a:solidFill>
                  <a:srgbClr val="8B95A5"/>
                </a:solidFill>
                <a:latin typeface="MiSans"/>
                <a:ea typeface="MiSans"/>
              </a:rPr>
              <a:t>What the community is obsessing over beyond the headlines</a:t>
            </a:r>
          </a:p>
        </p:txBody>
      </p:sp>
      <p:sp>
        <p:nvSpPr>
          <p:cNvPr id="11" name="dsl:divider2"/>
          <p:cNvSpPr/>
          <p:nvPr/>
        </p:nvSpPr>
        <p:spPr>
          <a:xfrm>
            <a:off x="571500" y="3714750"/>
            <a:ext cx="11049000" cy="9525"/>
          </a:xfrm>
          <a:prstGeom prst="rect">
            <a:avLst/>
          </a:prstGeom>
          <a:solidFill>
            <a:srgbClr val="2A3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dsl:item3-num"/>
          <p:cNvSpPr txBox="1"/>
          <p:nvPr/>
        </p:nvSpPr>
        <p:spPr>
          <a:xfrm>
            <a:off x="571500" y="4000500"/>
            <a:ext cx="762000" cy="5715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3600" noProof="1">
                <a:solidFill>
                  <a:srgbClr val="4285F4"/>
                </a:solidFill>
                <a:latin typeface="MiSans"/>
                <a:ea typeface="MiSans"/>
              </a:rPr>
              <a:t>03</a:t>
            </a:r>
          </a:p>
        </p:txBody>
      </p:sp>
      <p:sp>
        <p:nvSpPr>
          <p:cNvPr id="13" name="dsl:item3-title"/>
          <p:cNvSpPr txBox="1"/>
          <p:nvPr/>
        </p:nvSpPr>
        <p:spPr>
          <a:xfrm>
            <a:off x="1428750" y="4000500"/>
            <a:ext cx="3810000" cy="3429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b="1" sz="1800" noProof="1">
                <a:solidFill>
                  <a:srgbClr val="E8ECF1"/>
                </a:solidFill>
                <a:latin typeface="MiSans"/>
                <a:ea typeface="MiSans"/>
              </a:rPr>
              <a:t>Community Sentiment</a:t>
            </a:r>
          </a:p>
        </p:txBody>
      </p:sp>
      <p:sp>
        <p:nvSpPr>
          <p:cNvPr id="14" name="dsl:item3-desc|s=$caption"/>
          <p:cNvSpPr txBox="1"/>
          <p:nvPr/>
        </p:nvSpPr>
        <p:spPr>
          <a:xfrm>
            <a:off x="1428750" y="4381500"/>
            <a:ext cx="5715000" cy="2857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>
              <a:lnSpc>
                <a:spcPct val="140000"/>
              </a:lnSpc>
            </a:pPr>
            <a:r>
              <a:rPr sz="1050" noProof="1">
                <a:solidFill>
                  <a:srgbClr val="8B95A5"/>
                </a:solidFill>
                <a:latin typeface="MiSans"/>
                <a:ea typeface="MiSans"/>
              </a:rPr>
              <a:t>What Reddit, Hacker News, and X are saying</a:t>
            </a:r>
          </a:p>
        </p:txBody>
      </p:sp>
      <p:sp>
        <p:nvSpPr>
          <p:cNvPr id="15" name="dsl:divider3"/>
          <p:cNvSpPr/>
          <p:nvPr/>
        </p:nvSpPr>
        <p:spPr>
          <a:xfrm>
            <a:off x="571500" y="4953000"/>
            <a:ext cx="11049000" cy="9525"/>
          </a:xfrm>
          <a:prstGeom prst="rect">
            <a:avLst/>
          </a:prstGeom>
          <a:solidFill>
            <a:srgbClr val="2A3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dsl:item4-num"/>
          <p:cNvSpPr txBox="1"/>
          <p:nvPr/>
        </p:nvSpPr>
        <p:spPr>
          <a:xfrm>
            <a:off x="571500" y="5238750"/>
            <a:ext cx="762000" cy="5715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3600" noProof="1">
                <a:solidFill>
                  <a:srgbClr val="4285F4"/>
                </a:solidFill>
                <a:latin typeface="MiSans"/>
                <a:ea typeface="MiSans"/>
              </a:rPr>
              <a:t>04</a:t>
            </a:r>
          </a:p>
        </p:txBody>
      </p:sp>
      <p:sp>
        <p:nvSpPr>
          <p:cNvPr id="17" name="dsl:item4-title"/>
          <p:cNvSpPr txBox="1"/>
          <p:nvPr/>
        </p:nvSpPr>
        <p:spPr>
          <a:xfrm>
            <a:off x="1428750" y="5238750"/>
            <a:ext cx="3810000" cy="3429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b="1" sz="1800" noProof="1">
                <a:solidFill>
                  <a:srgbClr val="E8ECF1"/>
                </a:solidFill>
                <a:latin typeface="MiSans"/>
                <a:ea typeface="MiSans"/>
              </a:rPr>
              <a:t>The Bottom Line</a:t>
            </a:r>
          </a:p>
        </p:txBody>
      </p:sp>
      <p:sp>
        <p:nvSpPr>
          <p:cNvPr id="18" name="dsl:item4-desc|s=$caption"/>
          <p:cNvSpPr txBox="1"/>
          <p:nvPr/>
        </p:nvSpPr>
        <p:spPr>
          <a:xfrm>
            <a:off x="1428750" y="5619750"/>
            <a:ext cx="5715000" cy="2857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>
              <a:lnSpc>
                <a:spcPct val="140000"/>
              </a:lnSpc>
            </a:pPr>
            <a:r>
              <a:rPr sz="1050" noProof="1">
                <a:solidFill>
                  <a:srgbClr val="8B95A5"/>
                </a:solidFill>
                <a:latin typeface="MiSans"/>
                <a:ea typeface="MiSans"/>
              </a:rPr>
              <a:t>Takeaways for builders and investors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ch-num"/>
          <p:cNvSpPr txBox="1"/>
          <p:nvPr/>
        </p:nvSpPr>
        <p:spPr>
          <a:xfrm>
            <a:off x="571500" y="1905000"/>
            <a:ext cx="2857500" cy="9525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7200" noProof="1">
                <a:solidFill>
                  <a:srgbClr val="4285F4"/>
                </a:solidFill>
                <a:latin typeface="MiSans"/>
                <a:ea typeface="MiSans"/>
              </a:rPr>
              <a:t>01</a:t>
            </a:r>
          </a:p>
        </p:txBody>
      </p:sp>
      <p:sp>
        <p:nvSpPr>
          <p:cNvPr id="3" name="dsl:accent-bar"/>
          <p:cNvSpPr/>
          <p:nvPr/>
        </p:nvSpPr>
        <p:spPr>
          <a:xfrm>
            <a:off x="571500" y="3048000"/>
            <a:ext cx="762000" cy="38100"/>
          </a:xfrm>
          <a:prstGeom prst="rect">
            <a:avLst/>
          </a:prstGeom>
          <a:solidFill>
            <a:srgbClr val="428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sl:ch-title|s=$title"/>
          <p:cNvSpPr txBox="1"/>
          <p:nvPr/>
        </p:nvSpPr>
        <p:spPr>
          <a:xfrm>
            <a:off x="571500" y="3333750"/>
            <a:ext cx="7620000" cy="5715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b="1" sz="3000" noProof="1" spc="-37">
                <a:solidFill>
                  <a:srgbClr val="E8ECF1"/>
                </a:solidFill>
                <a:latin typeface="MiSans"/>
                <a:ea typeface="MiSans"/>
              </a:rPr>
              <a:t>Financial Snapshot</a:t>
            </a:r>
          </a:p>
        </p:txBody>
      </p:sp>
      <p:sp>
        <p:nvSpPr>
          <p:cNvPr id="5" name="dsl:ch-subtitle|s=$subtitle"/>
          <p:cNvSpPr txBox="1"/>
          <p:nvPr/>
        </p:nvSpPr>
        <p:spPr>
          <a:xfrm>
            <a:off x="571500" y="4000500"/>
            <a:ext cx="8572500" cy="3810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>
              <a:lnSpc>
                <a:spcPct val="140000"/>
              </a:lnSpc>
            </a:pPr>
            <a:r>
              <a:rPr sz="1800" noProof="1">
                <a:solidFill>
                  <a:srgbClr val="8B95A5"/>
                </a:solidFill>
                <a:latin typeface="MiSans"/>
                <a:ea typeface="MiSans"/>
              </a:rPr>
              <a:t>First-ever $100B quarter and what the headline numbers tell us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title-bar"/>
          <p:cNvSpPr/>
          <p:nvPr/>
        </p:nvSpPr>
        <p:spPr>
          <a:xfrm>
            <a:off x="571500" y="381000"/>
            <a:ext cx="38100" cy="381000"/>
          </a:xfrm>
          <a:prstGeom prst="rect">
            <a:avLst/>
          </a:prstGeom>
          <a:solidFill>
            <a:srgbClr val="428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sl:page-title|s=$title"/>
          <p:cNvSpPr txBox="1"/>
          <p:nvPr/>
        </p:nvSpPr>
        <p:spPr>
          <a:xfrm>
            <a:off x="762000" y="333375"/>
            <a:ext cx="5715000" cy="4762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b="1" sz="2400" noProof="1" spc="-37">
                <a:solidFill>
                  <a:srgbClr val="E8ECF1"/>
                </a:solidFill>
                <a:latin typeface="MiSans"/>
                <a:ea typeface="MiSans"/>
              </a:rPr>
              <a:t>Q3 2025 Key Metrics</a:t>
            </a:r>
          </a:p>
        </p:txBody>
      </p:sp>
      <p:sp>
        <p:nvSpPr>
          <p:cNvPr id="4" name="dsl:card1-bg"/>
          <p:cNvSpPr/>
          <p:nvPr/>
        </p:nvSpPr>
        <p:spPr>
          <a:xfrm>
            <a:off x="571500" y="1047750"/>
            <a:ext cx="3429000" cy="2286000"/>
          </a:xfrm>
          <a:prstGeom prst="roundRect">
            <a:avLst>
              <a:gd name="adj" fmla="val 8000"/>
            </a:avLst>
          </a:prstGeom>
          <a:solidFill>
            <a:srgbClr val="141B2D"/>
          </a:solidFill>
          <a:ln w="12700">
            <a:solidFill>
              <a:srgbClr val="2A3550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dsl:card1-label|s=$label"/>
          <p:cNvSpPr txBox="1"/>
          <p:nvPr/>
        </p:nvSpPr>
        <p:spPr>
          <a:xfrm>
            <a:off x="762000" y="1190625"/>
            <a:ext cx="1905000" cy="1905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900" noProof="1" spc="75">
                <a:solidFill>
                  <a:srgbClr val="8B95A5"/>
                </a:solidFill>
                <a:latin typeface="MiSans"/>
                <a:ea typeface="MiSans"/>
              </a:rPr>
              <a:t>TOTAL REVENUE</a:t>
            </a:r>
          </a:p>
        </p:txBody>
      </p:sp>
      <p:sp>
        <p:nvSpPr>
          <p:cNvPr id="6" name="dsl:card1-number|s=$dataNumber"/>
          <p:cNvSpPr txBox="1"/>
          <p:nvPr/>
        </p:nvSpPr>
        <p:spPr>
          <a:xfrm>
            <a:off x="762000" y="1476375"/>
            <a:ext cx="3048000" cy="6667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b="1" sz="3600" noProof="1" spc="-75">
                <a:solidFill>
                  <a:srgbClr val="4285F4"/>
                </a:solidFill>
                <a:latin typeface="MiSans"/>
                <a:ea typeface="MiSans"/>
              </a:rPr>
              <a:t>$102B</a:t>
            </a:r>
          </a:p>
        </p:txBody>
      </p:sp>
      <p:sp>
        <p:nvSpPr>
          <p:cNvPr id="7" name="dsl:card1-change"/>
          <p:cNvSpPr txBox="1"/>
          <p:nvPr/>
        </p:nvSpPr>
        <p:spPr>
          <a:xfrm>
            <a:off x="762000" y="2190750"/>
            <a:ext cx="3048000" cy="2857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1350" noProof="1">
                <a:solidFill>
                  <a:srgbClr val="34A853"/>
                </a:solidFill>
                <a:latin typeface="MiSans"/>
                <a:ea typeface="MiSans"/>
              </a:rPr>
              <a:t>▲</a:t>
            </a:r>
            <a:r>
              <a:rPr sz="1350" noProof="1">
                <a:solidFill>
                  <a:srgbClr val="34A853"/>
                </a:solidFill>
                <a:latin typeface="MiSans"/>
                <a:ea typeface="MiSans"/>
              </a:rPr>
              <a:t> +16% YoY  ·  First $100B quarter</a:t>
            </a:r>
          </a:p>
        </p:txBody>
      </p:sp>
      <p:sp>
        <p:nvSpPr>
          <p:cNvPr id="8" name="dsl:card1-desc|s=$caption"/>
          <p:cNvSpPr txBox="1"/>
          <p:nvPr/>
        </p:nvSpPr>
        <p:spPr>
          <a:xfrm>
            <a:off x="762000" y="2571750"/>
            <a:ext cx="3048000" cy="5715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050" noProof="1">
                <a:solidFill>
                  <a:srgbClr val="8B95A5"/>
                </a:solidFill>
                <a:latin typeface="MiSans"/>
                <a:ea typeface="MiSans"/>
              </a:rPr>
              <a:t>The largest quarterly revenue in Alphabet's history</a:t>
            </a:r>
          </a:p>
        </p:txBody>
      </p:sp>
      <p:sp>
        <p:nvSpPr>
          <p:cNvPr id="9" name="dsl:card2-bg"/>
          <p:cNvSpPr/>
          <p:nvPr/>
        </p:nvSpPr>
        <p:spPr>
          <a:xfrm>
            <a:off x="4381500" y="1047750"/>
            <a:ext cx="3429000" cy="2286000"/>
          </a:xfrm>
          <a:prstGeom prst="roundRect">
            <a:avLst>
              <a:gd name="adj" fmla="val 8000"/>
            </a:avLst>
          </a:prstGeom>
          <a:solidFill>
            <a:srgbClr val="141B2D"/>
          </a:solidFill>
          <a:ln w="12700">
            <a:solidFill>
              <a:srgbClr val="2A3550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dsl:card2-label|s=$label"/>
          <p:cNvSpPr txBox="1"/>
          <p:nvPr/>
        </p:nvSpPr>
        <p:spPr>
          <a:xfrm>
            <a:off x="4572000" y="1190625"/>
            <a:ext cx="1905000" cy="1905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900" noProof="1" spc="75">
                <a:solidFill>
                  <a:srgbClr val="8B95A5"/>
                </a:solidFill>
                <a:latin typeface="MiSans"/>
                <a:ea typeface="MiSans"/>
              </a:rPr>
              <a:t>NET INCOME</a:t>
            </a:r>
          </a:p>
        </p:txBody>
      </p:sp>
      <p:sp>
        <p:nvSpPr>
          <p:cNvPr id="11" name="dsl:card2-number|s=$dataNumber"/>
          <p:cNvSpPr txBox="1"/>
          <p:nvPr/>
        </p:nvSpPr>
        <p:spPr>
          <a:xfrm>
            <a:off x="4572000" y="1476375"/>
            <a:ext cx="3048000" cy="6667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b="1" sz="3600" noProof="1" spc="-75">
                <a:solidFill>
                  <a:srgbClr val="34A853"/>
                </a:solidFill>
                <a:latin typeface="MiSans"/>
                <a:ea typeface="MiSans"/>
              </a:rPr>
              <a:t>+33%</a:t>
            </a:r>
          </a:p>
        </p:txBody>
      </p:sp>
      <p:sp>
        <p:nvSpPr>
          <p:cNvPr id="12" name="dsl:card2-change"/>
          <p:cNvSpPr txBox="1"/>
          <p:nvPr/>
        </p:nvSpPr>
        <p:spPr>
          <a:xfrm>
            <a:off x="4572000" y="2190750"/>
            <a:ext cx="3048000" cy="2857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1350" noProof="1">
                <a:solidFill>
                  <a:srgbClr val="34A853"/>
                </a:solidFill>
                <a:latin typeface="MiSans"/>
                <a:ea typeface="MiSans"/>
              </a:rPr>
              <a:t>▲</a:t>
            </a:r>
            <a:r>
              <a:rPr sz="1350" noProof="1">
                <a:solidFill>
                  <a:srgbClr val="34A853"/>
                </a:solidFill>
                <a:latin typeface="MiSans"/>
                <a:ea typeface="MiSans"/>
              </a:rPr>
              <a:t> Despite $3.5B EU fine</a:t>
            </a:r>
          </a:p>
        </p:txBody>
      </p:sp>
      <p:sp>
        <p:nvSpPr>
          <p:cNvPr id="13" name="dsl:card2-desc|s=$caption"/>
          <p:cNvSpPr txBox="1"/>
          <p:nvPr/>
        </p:nvSpPr>
        <p:spPr>
          <a:xfrm>
            <a:off x="4572000" y="2571750"/>
            <a:ext cx="3048000" cy="5715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050" noProof="1">
                <a:solidFill>
                  <a:srgbClr val="8B95A5"/>
                </a:solidFill>
                <a:latin typeface="MiSans"/>
                <a:ea typeface="MiSans"/>
              </a:rPr>
              <a:t>Profit growth even after absorbing a massive regulatory hit</a:t>
            </a:r>
          </a:p>
        </p:txBody>
      </p:sp>
      <p:sp>
        <p:nvSpPr>
          <p:cNvPr id="14" name="dsl:card3-bg"/>
          <p:cNvSpPr/>
          <p:nvPr/>
        </p:nvSpPr>
        <p:spPr>
          <a:xfrm>
            <a:off x="8191500" y="1047750"/>
            <a:ext cx="3429000" cy="2286000"/>
          </a:xfrm>
          <a:prstGeom prst="roundRect">
            <a:avLst>
              <a:gd name="adj" fmla="val 8000"/>
            </a:avLst>
          </a:prstGeom>
          <a:solidFill>
            <a:srgbClr val="141B2D"/>
          </a:solidFill>
          <a:ln w="12700">
            <a:solidFill>
              <a:srgbClr val="2A3550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dsl:card3-label|s=$label"/>
          <p:cNvSpPr txBox="1"/>
          <p:nvPr/>
        </p:nvSpPr>
        <p:spPr>
          <a:xfrm>
            <a:off x="8382000" y="1190625"/>
            <a:ext cx="1905000" cy="1905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900" noProof="1" spc="75">
                <a:solidFill>
                  <a:srgbClr val="8B95A5"/>
                </a:solidFill>
                <a:latin typeface="MiSans"/>
                <a:ea typeface="MiSans"/>
              </a:rPr>
              <a:t>GOOGLE CLOUD</a:t>
            </a:r>
          </a:p>
        </p:txBody>
      </p:sp>
      <p:sp>
        <p:nvSpPr>
          <p:cNvPr id="16" name="dsl:card3-number|s=$dataNumber"/>
          <p:cNvSpPr txBox="1"/>
          <p:nvPr/>
        </p:nvSpPr>
        <p:spPr>
          <a:xfrm>
            <a:off x="8382000" y="1476375"/>
            <a:ext cx="3048000" cy="6667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b="1" sz="3600" noProof="1" spc="-75">
                <a:solidFill>
                  <a:srgbClr val="FBBC05"/>
                </a:solidFill>
                <a:latin typeface="MiSans"/>
                <a:ea typeface="MiSans"/>
              </a:rPr>
              <a:t>+34%</a:t>
            </a:r>
          </a:p>
        </p:txBody>
      </p:sp>
      <p:sp>
        <p:nvSpPr>
          <p:cNvPr id="17" name="dsl:card3-change"/>
          <p:cNvSpPr txBox="1"/>
          <p:nvPr/>
        </p:nvSpPr>
        <p:spPr>
          <a:xfrm>
            <a:off x="8382000" y="2190750"/>
            <a:ext cx="3048000" cy="2857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1350" noProof="1">
                <a:solidFill>
                  <a:srgbClr val="E8ECF1"/>
                </a:solidFill>
                <a:latin typeface="MiSans"/>
                <a:ea typeface="MiSans"/>
              </a:rPr>
              <a:t>$15B+ Revenue  ·  AI migration driving growth</a:t>
            </a:r>
          </a:p>
        </p:txBody>
      </p:sp>
      <p:sp>
        <p:nvSpPr>
          <p:cNvPr id="18" name="dsl:card3-desc|s=$caption"/>
          <p:cNvSpPr txBox="1"/>
          <p:nvPr/>
        </p:nvSpPr>
        <p:spPr>
          <a:xfrm>
            <a:off x="8382000" y="2571750"/>
            <a:ext cx="3048000" cy="5715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050" noProof="1">
                <a:solidFill>
                  <a:srgbClr val="8B95A5"/>
                </a:solidFill>
                <a:latin typeface="MiSans"/>
                <a:ea typeface="MiSans"/>
              </a:rPr>
              <a:t>Enterprise migration to GCP is actually happening</a:t>
            </a:r>
          </a:p>
        </p:txBody>
      </p:sp>
      <p:sp>
        <p:nvSpPr>
          <p:cNvPr id="19" name="dsl:bottom-card-bg"/>
          <p:cNvSpPr/>
          <p:nvPr/>
        </p:nvSpPr>
        <p:spPr>
          <a:xfrm>
            <a:off x="571500" y="3619500"/>
            <a:ext cx="11049000" cy="1905000"/>
          </a:xfrm>
          <a:prstGeom prst="roundRect">
            <a:avLst>
              <a:gd name="adj" fmla="val 8000"/>
            </a:avLst>
          </a:prstGeom>
          <a:solidFill>
            <a:srgbClr val="1E2746"/>
          </a:solidFill>
          <a:ln w="12700">
            <a:solidFill>
              <a:srgbClr val="2A3550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dsl:bottom-icon|i=fas:chart-line" descr="tmp2wq8ziu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7250" y="3905250"/>
            <a:ext cx="304800" cy="304800"/>
          </a:xfrm>
          <a:prstGeom prst="rect">
            <a:avLst/>
          </a:prstGeom>
          <a:ln>
            <a:noFill/>
          </a:ln>
          <a:effectLst/>
        </p:spPr>
      </p:pic>
      <p:sp>
        <p:nvSpPr>
          <p:cNvPr id="21" name="dsl:bottom-title"/>
          <p:cNvSpPr txBox="1"/>
          <p:nvPr/>
        </p:nvSpPr>
        <p:spPr>
          <a:xfrm>
            <a:off x="1285875" y="3857625"/>
            <a:ext cx="4762500" cy="3429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b="1" sz="1650" noProof="1">
                <a:solidFill>
                  <a:srgbClr val="E8ECF1"/>
                </a:solidFill>
                <a:latin typeface="MiSans"/>
                <a:ea typeface="MiSans"/>
              </a:rPr>
              <a:t>Operating Margin</a:t>
            </a:r>
          </a:p>
        </p:txBody>
      </p:sp>
      <p:sp>
        <p:nvSpPr>
          <p:cNvPr id="22" name="dsl:bottom-body|s=$body"/>
          <p:cNvSpPr txBox="1"/>
          <p:nvPr/>
        </p:nvSpPr>
        <p:spPr>
          <a:xfrm>
            <a:off x="857250" y="4286250"/>
            <a:ext cx="10477500" cy="104775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60000"/>
              </a:lnSpc>
            </a:pPr>
            <a:r>
              <a:rPr sz="1350" noProof="1">
                <a:solidFill>
                  <a:srgbClr val="E8ECF1"/>
                </a:solidFill>
                <a:latin typeface="MiSans"/>
                <a:ea typeface="MiSans"/>
              </a:rPr>
              <a:t>Operating margins hit </a:t>
            </a:r>
            <a:r>
              <a:rPr b="1" sz="1350" noProof="1">
                <a:solidFill>
                  <a:srgbClr val="E8ECF1"/>
                </a:solidFill>
                <a:latin typeface="MiSans"/>
                <a:ea typeface="MiSans"/>
              </a:rPr>
              <a:t>nearly 34%</a:t>
            </a:r>
            <a:r>
              <a:rPr sz="1350" noProof="1">
                <a:solidFill>
                  <a:srgbClr val="E8ECF1"/>
                </a:solidFill>
                <a:latin typeface="MiSans"/>
                <a:ea typeface="MiSans"/>
              </a:rPr>
              <a:t> when excluding the $3.5B EU antitrust fine. Even with massive AI infrastructure investments, Alphabet maintains capital efficiency that rivals its pre-AI era.</a:t>
            </a:r>
          </a:p>
          <a:p>
            <a:pPr algn="l">
              <a:lnSpc>
                <a:spcPct val="160000"/>
              </a:lnSpc>
              <a:spcBef>
                <a:spcPts val="600"/>
              </a:spcBef>
            </a:pPr>
            <a:r>
              <a:rPr sz="1350" noProof="1">
                <a:solidFill>
                  <a:srgbClr val="8B95A5"/>
                </a:solidFill>
                <a:latin typeface="MiSans"/>
                <a:ea typeface="MiSans"/>
              </a:rPr>
              <a:t>These numbers collectively refute the "Google is dying" narrative.</a:t>
            </a:r>
          </a:p>
        </p:txBody>
      </p:sp>
      <p:sp>
        <p:nvSpPr>
          <p:cNvPr id="23" name="dsl:source|s=$caption"/>
          <p:cNvSpPr txBox="1"/>
          <p:nvPr/>
        </p:nvSpPr>
        <p:spPr>
          <a:xfrm>
            <a:off x="571500" y="6191250"/>
            <a:ext cx="5715000" cy="1905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>
              <a:lnSpc>
                <a:spcPct val="140000"/>
              </a:lnSpc>
            </a:pPr>
            <a:r>
              <a:rPr sz="1050" noProof="1">
                <a:solidFill>
                  <a:srgbClr val="8B95A5"/>
                </a:solidFill>
                <a:latin typeface="MiSans"/>
                <a:ea typeface="MiSans"/>
              </a:rPr>
              <a:t>Source: Alphabet Q3 2025 Earnings Report  ·  Analysis by </a:t>
            </a:r>
            <a:r>
              <a:rPr sz="1050" noProof="1">
                <a:solidFill>
                  <a:srgbClr val="8B95A5"/>
                </a:solidFill>
                <a:latin typeface="MiSans"/>
                <a:ea typeface="MiSans"/>
                <a:hlinkClick r:id="rId3"/>
              </a:rPr>
              <a:t>Vizplainer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ch-num"/>
          <p:cNvSpPr txBox="1"/>
          <p:nvPr/>
        </p:nvSpPr>
        <p:spPr>
          <a:xfrm>
            <a:off x="571500" y="1905000"/>
            <a:ext cx="2857500" cy="9525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7200" noProof="1">
                <a:solidFill>
                  <a:srgbClr val="4285F4"/>
                </a:solidFill>
                <a:latin typeface="MiSans"/>
                <a:ea typeface="MiSans"/>
              </a:rPr>
              <a:t>02</a:t>
            </a:r>
          </a:p>
        </p:txBody>
      </p:sp>
      <p:sp>
        <p:nvSpPr>
          <p:cNvPr id="3" name="dsl:accent-bar"/>
          <p:cNvSpPr/>
          <p:nvPr/>
        </p:nvSpPr>
        <p:spPr>
          <a:xfrm>
            <a:off x="571500" y="3048000"/>
            <a:ext cx="762000" cy="38100"/>
          </a:xfrm>
          <a:prstGeom prst="rect">
            <a:avLst/>
          </a:prstGeom>
          <a:solidFill>
            <a:srgbClr val="428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sl:ch-title|s=$title"/>
          <p:cNvSpPr txBox="1"/>
          <p:nvPr/>
        </p:nvSpPr>
        <p:spPr>
          <a:xfrm>
            <a:off x="571500" y="3333750"/>
            <a:ext cx="7620000" cy="5715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b="1" sz="3000" noProof="1" spc="-37">
                <a:solidFill>
                  <a:srgbClr val="E8ECF1"/>
                </a:solidFill>
                <a:latin typeface="MiSans"/>
                <a:ea typeface="MiSans"/>
              </a:rPr>
              <a:t>Three Core Insights</a:t>
            </a:r>
          </a:p>
        </p:txBody>
      </p:sp>
      <p:sp>
        <p:nvSpPr>
          <p:cNvPr id="5" name="dsl:ch-subtitle|s=$subtitle"/>
          <p:cNvSpPr txBox="1"/>
          <p:nvPr/>
        </p:nvSpPr>
        <p:spPr>
          <a:xfrm>
            <a:off x="571500" y="4000500"/>
            <a:ext cx="8572500" cy="3810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>
              <a:lnSpc>
                <a:spcPct val="140000"/>
              </a:lnSpc>
            </a:pPr>
            <a:r>
              <a:rPr sz="1800" noProof="1">
                <a:solidFill>
                  <a:srgbClr val="8B95A5"/>
                </a:solidFill>
                <a:latin typeface="MiSans"/>
                <a:ea typeface="MiSans"/>
              </a:rPr>
              <a:t>What the community is obsessing over — beyond the headline numbers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title-bar"/>
          <p:cNvSpPr/>
          <p:nvPr/>
        </p:nvSpPr>
        <p:spPr>
          <a:xfrm>
            <a:off x="571500" y="381000"/>
            <a:ext cx="38100" cy="381000"/>
          </a:xfrm>
          <a:prstGeom prst="rect">
            <a:avLst/>
          </a:prstGeom>
          <a:solidFill>
            <a:srgbClr val="428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sl:page-title|s=$title"/>
          <p:cNvSpPr txBox="1"/>
          <p:nvPr/>
        </p:nvSpPr>
        <p:spPr>
          <a:xfrm>
            <a:off x="762000" y="333375"/>
            <a:ext cx="7620000" cy="4762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b="1" sz="2400" noProof="1" spc="-37">
                <a:solidFill>
                  <a:srgbClr val="E8ECF1"/>
                </a:solidFill>
                <a:latin typeface="MiSans"/>
                <a:ea typeface="MiSans"/>
              </a:rPr>
              <a:t>Insight 1: AI Infrastructure at Scale</a:t>
            </a:r>
          </a:p>
        </p:txBody>
      </p:sp>
      <p:sp>
        <p:nvSpPr>
          <p:cNvPr id="4" name="dsl:insight-badge"/>
          <p:cNvSpPr/>
          <p:nvPr/>
        </p:nvSpPr>
        <p:spPr>
          <a:xfrm>
            <a:off x="762000" y="1000125"/>
            <a:ext cx="1714500" cy="266700"/>
          </a:xfrm>
          <a:prstGeom prst="roundRect">
            <a:avLst>
              <a:gd name="adj" fmla="val 50000"/>
            </a:avLst>
          </a:prstGeom>
          <a:solidFill>
            <a:srgbClr val="4285F4">
              <a:alpha val="18823"/>
            </a:srgbClr>
          </a:solidFill>
          <a:ln w="12700">
            <a:solidFill>
              <a:srgbClr val="4285F4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dsl:insight-badge-text"/>
          <p:cNvSpPr txBox="1"/>
          <p:nvPr/>
        </p:nvSpPr>
        <p:spPr>
          <a:xfrm>
            <a:off x="762000" y="1000125"/>
            <a:ext cx="1714500" cy="2667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/>
            <a:r>
              <a:rPr sz="900" noProof="1">
                <a:solidFill>
                  <a:srgbClr val="4285F4"/>
                </a:solidFill>
                <a:latin typeface="MiSans"/>
                <a:ea typeface="MiSans"/>
              </a:rPr>
              <a:t>VALUABLE FIND</a:t>
            </a:r>
          </a:p>
        </p:txBody>
      </p:sp>
      <p:sp>
        <p:nvSpPr>
          <p:cNvPr id="6" name="dsl:main-stat-bg"/>
          <p:cNvSpPr/>
          <p:nvPr/>
        </p:nvSpPr>
        <p:spPr>
          <a:xfrm>
            <a:off x="571500" y="1524000"/>
            <a:ext cx="4953000" cy="1714500"/>
          </a:xfrm>
          <a:prstGeom prst="roundRect">
            <a:avLst>
              <a:gd name="adj" fmla="val 8000"/>
            </a:avLst>
          </a:prstGeom>
          <a:solidFill>
            <a:srgbClr val="141B2D"/>
          </a:solidFill>
          <a:ln w="12700">
            <a:solidFill>
              <a:srgbClr val="2A3550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dsl:main-stat-icon|i=fas:microchip" descr="tmpkhy6bnjv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625" y="1714500"/>
            <a:ext cx="342900" cy="342900"/>
          </a:xfrm>
          <a:prstGeom prst="rect">
            <a:avLst/>
          </a:prstGeom>
          <a:ln>
            <a:noFill/>
          </a:ln>
          <a:effectLst/>
        </p:spPr>
      </p:pic>
      <p:sp>
        <p:nvSpPr>
          <p:cNvPr id="8" name="dsl:main-stat-number"/>
          <p:cNvSpPr txBox="1"/>
          <p:nvPr/>
        </p:nvSpPr>
        <p:spPr>
          <a:xfrm>
            <a:off x="809625" y="2095500"/>
            <a:ext cx="4476750" cy="6667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b="1" sz="3900" noProof="1">
                <a:solidFill>
                  <a:srgbClr val="4285F4"/>
                </a:solidFill>
                <a:latin typeface="MiSans"/>
                <a:ea typeface="MiSans"/>
              </a:rPr>
              <a:t>7 Billion</a:t>
            </a:r>
          </a:p>
        </p:txBody>
      </p:sp>
      <p:sp>
        <p:nvSpPr>
          <p:cNvPr id="9" name="dsl:main-stat-label"/>
          <p:cNvSpPr txBox="1"/>
          <p:nvPr/>
        </p:nvSpPr>
        <p:spPr>
          <a:xfrm>
            <a:off x="809625" y="2809875"/>
            <a:ext cx="4476750" cy="2667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1350" noProof="1">
                <a:solidFill>
                  <a:srgbClr val="8B95A5"/>
                </a:solidFill>
                <a:latin typeface="MiSans"/>
                <a:ea typeface="MiSans"/>
              </a:rPr>
              <a:t>Tokens per minute processed by Gemini</a:t>
            </a:r>
          </a:p>
        </p:txBody>
      </p:sp>
      <p:sp>
        <p:nvSpPr>
          <p:cNvPr id="10" name="dsl:side-card-bg"/>
          <p:cNvSpPr/>
          <p:nvPr/>
        </p:nvSpPr>
        <p:spPr>
          <a:xfrm>
            <a:off x="5905500" y="1524000"/>
            <a:ext cx="5715000" cy="1714500"/>
          </a:xfrm>
          <a:prstGeom prst="roundRect">
            <a:avLst>
              <a:gd name="adj" fmla="val 8000"/>
            </a:avLst>
          </a:prstGeom>
          <a:solidFill>
            <a:srgbClr val="141B2D"/>
          </a:solidFill>
          <a:ln w="12700">
            <a:solidFill>
              <a:srgbClr val="2A3550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dsl:side-card-icon|i=fas:cloud" descr="tmpxxkxkdz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43625" y="1714500"/>
            <a:ext cx="304800" cy="304800"/>
          </a:xfrm>
          <a:prstGeom prst="rect">
            <a:avLst/>
          </a:prstGeom>
          <a:ln>
            <a:noFill/>
          </a:ln>
          <a:effectLst/>
        </p:spPr>
      </p:pic>
      <p:sp>
        <p:nvSpPr>
          <p:cNvPr id="12" name="dsl:side-card-title"/>
          <p:cNvSpPr txBox="1"/>
          <p:nvPr/>
        </p:nvSpPr>
        <p:spPr>
          <a:xfrm>
            <a:off x="6143625" y="2095500"/>
            <a:ext cx="5238750" cy="2857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b="1" sz="1500" noProof="1">
                <a:solidFill>
                  <a:srgbClr val="E8ECF1"/>
                </a:solidFill>
                <a:latin typeface="MiSans"/>
                <a:ea typeface="MiSans"/>
              </a:rPr>
              <a:t>Google Cloud +34% → $15B+</a:t>
            </a:r>
          </a:p>
        </p:txBody>
      </p:sp>
      <p:sp>
        <p:nvSpPr>
          <p:cNvPr id="13" name="dsl:side-card-body|s=$caption"/>
          <p:cNvSpPr txBox="1"/>
          <p:nvPr/>
        </p:nvSpPr>
        <p:spPr>
          <a:xfrm>
            <a:off x="6143625" y="2476500"/>
            <a:ext cx="5238750" cy="5715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050" noProof="1">
                <a:solidFill>
                  <a:srgbClr val="8B95A5"/>
                </a:solidFill>
                <a:latin typeface="MiSans"/>
                <a:ea typeface="MiSans"/>
              </a:rPr>
              <a:t>Enterprise migration to GCP for generative AI is actually happening, not just forecasted</a:t>
            </a:r>
          </a:p>
        </p:txBody>
      </p:sp>
      <p:sp>
        <p:nvSpPr>
          <p:cNvPr id="14" name="dsl:hn-quote-bg"/>
          <p:cNvSpPr/>
          <p:nvPr/>
        </p:nvSpPr>
        <p:spPr>
          <a:xfrm>
            <a:off x="571500" y="3524250"/>
            <a:ext cx="11049000" cy="1333500"/>
          </a:xfrm>
          <a:prstGeom prst="roundRect">
            <a:avLst>
              <a:gd name="adj" fmla="val 8000"/>
            </a:avLst>
          </a:prstGeom>
          <a:solidFill>
            <a:srgbClr val="141B2D"/>
          </a:solidFill>
          <a:ln w="12700">
            <a:solidFill>
              <a:srgbClr val="2A3550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dsl:quote-icon|i=fas:quote-left" descr="tmp8wol88j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625" y="3762375"/>
            <a:ext cx="228600" cy="228600"/>
          </a:xfrm>
          <a:prstGeom prst="rect">
            <a:avLst/>
          </a:prstGeom>
          <a:ln>
            <a:noFill/>
          </a:ln>
          <a:effectLst/>
        </p:spPr>
      </p:pic>
      <p:sp>
        <p:nvSpPr>
          <p:cNvPr id="16" name="dsl:quote-text"/>
          <p:cNvSpPr txBox="1"/>
          <p:nvPr/>
        </p:nvSpPr>
        <p:spPr>
          <a:xfrm>
            <a:off x="1190625" y="3714750"/>
            <a:ext cx="10096500" cy="7620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i="1" sz="1350" noProof="1">
                <a:solidFill>
                  <a:srgbClr val="E8ECF1"/>
                </a:solidFill>
                <a:latin typeface="MiSans"/>
                <a:ea typeface="MiSans"/>
              </a:rPr>
              <a:t>"This volume validates the shift from 'experimental AI' to actual enterprise utility."</a:t>
            </a:r>
          </a:p>
          <a:p>
            <a:pPr algn="l">
              <a:lnSpc>
                <a:spcPct val="150000"/>
              </a:lnSpc>
              <a:spcBef>
                <a:spcPts val="600"/>
              </a:spcBef>
            </a:pPr>
            <a:r>
              <a:rPr sz="1050" noProof="1">
                <a:solidFill>
                  <a:srgbClr val="8B95A5"/>
                </a:solidFill>
                <a:latin typeface="MiSans"/>
                <a:ea typeface="MiSans"/>
              </a:rPr>
              <a:t>— Hacker News community discussion</a:t>
            </a:r>
          </a:p>
        </p:txBody>
      </p:sp>
      <p:sp>
        <p:nvSpPr>
          <p:cNvPr id="17" name="dsl:takeaway-bg"/>
          <p:cNvSpPr/>
          <p:nvPr/>
        </p:nvSpPr>
        <p:spPr>
          <a:xfrm>
            <a:off x="571500" y="5143500"/>
            <a:ext cx="11049000" cy="952500"/>
          </a:xfrm>
          <a:prstGeom prst="roundRect">
            <a:avLst>
              <a:gd name="adj" fmla="val 8000"/>
            </a:avLst>
          </a:prstGeom>
          <a:solidFill>
            <a:srgbClr val="4285F4">
              <a:alpha val="8235"/>
            </a:srgbClr>
          </a:solidFill>
          <a:ln w="12700">
            <a:solidFill>
              <a:srgbClr val="4285F4">
                <a:alpha val="25098"/>
              </a:srgbClr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dsl:takeaway-icon|i=fas:lightbulb" descr="tmpaqp7gc3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9625" y="5410200"/>
            <a:ext cx="266700" cy="266700"/>
          </a:xfrm>
          <a:prstGeom prst="rect">
            <a:avLst/>
          </a:prstGeom>
          <a:ln>
            <a:noFill/>
          </a:ln>
          <a:effectLst/>
        </p:spPr>
      </p:pic>
      <p:sp>
        <p:nvSpPr>
          <p:cNvPr id="19" name="dsl:takeaway-text"/>
          <p:cNvSpPr txBox="1"/>
          <p:nvPr/>
        </p:nvSpPr>
        <p:spPr>
          <a:xfrm>
            <a:off x="1190625" y="5286375"/>
            <a:ext cx="10191750" cy="66675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50000"/>
              </a:lnSpc>
            </a:pPr>
            <a:r>
              <a:rPr b="1" sz="1350" noProof="1">
                <a:solidFill>
                  <a:srgbClr val="E8ECF1"/>
                </a:solidFill>
                <a:latin typeface="MiSans"/>
                <a:ea typeface="MiSans"/>
              </a:rPr>
              <a:t>Key Takeaway:</a:t>
            </a:r>
            <a:r>
              <a:rPr sz="1350" noProof="1">
                <a:solidFill>
                  <a:srgbClr val="E8ECF1"/>
                </a:solidFill>
                <a:latin typeface="MiSans"/>
                <a:ea typeface="MiSans"/>
              </a:rPr>
              <a:t> Google's AI infrastructure is no longer experimental — it's a revenue-generating enterprise utility at massive scale.</a:t>
            </a:r>
          </a:p>
        </p:txBody>
      </p:sp>
      <p:sp>
        <p:nvSpPr>
          <p:cNvPr id="20" name="dsl:source|s=$caption"/>
          <p:cNvSpPr txBox="1"/>
          <p:nvPr/>
        </p:nvSpPr>
        <p:spPr>
          <a:xfrm>
            <a:off x="571500" y="6191250"/>
            <a:ext cx="5715000" cy="1905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>
              <a:lnSpc>
                <a:spcPct val="140000"/>
              </a:lnSpc>
            </a:pPr>
            <a:r>
              <a:rPr sz="1050" noProof="1">
                <a:solidFill>
                  <a:srgbClr val="8B95A5"/>
                </a:solidFill>
                <a:latin typeface="MiSans"/>
                <a:ea typeface="MiSans"/>
              </a:rPr>
              <a:t>Source: Alphabet Q3 2025 Earnings  ·  </a:t>
            </a:r>
            <a:r>
              <a:rPr sz="1050" noProof="1">
                <a:solidFill>
                  <a:srgbClr val="8B95A5"/>
                </a:solidFill>
                <a:latin typeface="MiSans"/>
                <a:ea typeface="MiSans"/>
                <a:hlinkClick r:id="rId6"/>
              </a:rPr>
              <a:t>Vizplainer Analysis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title-bar"/>
          <p:cNvSpPr/>
          <p:nvPr/>
        </p:nvSpPr>
        <p:spPr>
          <a:xfrm>
            <a:off x="571500" y="381000"/>
            <a:ext cx="38100" cy="381000"/>
          </a:xfrm>
          <a:prstGeom prst="rect">
            <a:avLst/>
          </a:prstGeom>
          <a:solidFill>
            <a:srgbClr val="EA4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sl:page-title|s=$title"/>
          <p:cNvSpPr txBox="1"/>
          <p:nvPr/>
        </p:nvSpPr>
        <p:spPr>
          <a:xfrm>
            <a:off x="762000" y="333375"/>
            <a:ext cx="8572500" cy="4762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b="1" sz="2400" noProof="1" spc="-37">
                <a:solidFill>
                  <a:srgbClr val="E8ECF1"/>
                </a:solidFill>
                <a:latin typeface="MiSans"/>
                <a:ea typeface="MiSans"/>
              </a:rPr>
              <a:t>Insight 2: The $93B CapEx Arms Race</a:t>
            </a:r>
          </a:p>
        </p:txBody>
      </p:sp>
      <p:sp>
        <p:nvSpPr>
          <p:cNvPr id="4" name="dsl:insight-badge"/>
          <p:cNvSpPr/>
          <p:nvPr/>
        </p:nvSpPr>
        <p:spPr>
          <a:xfrm>
            <a:off x="762000" y="1000125"/>
            <a:ext cx="1524000" cy="266700"/>
          </a:xfrm>
          <a:prstGeom prst="roundRect">
            <a:avLst>
              <a:gd name="adj" fmla="val 50000"/>
            </a:avLst>
          </a:prstGeom>
          <a:solidFill>
            <a:srgbClr val="EA4335">
              <a:alpha val="12549"/>
            </a:srgbClr>
          </a:solidFill>
          <a:ln w="12700">
            <a:solidFill>
              <a:srgbClr val="EA4335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dsl:insight-badge-text"/>
          <p:cNvSpPr txBox="1"/>
          <p:nvPr/>
        </p:nvSpPr>
        <p:spPr>
          <a:xfrm>
            <a:off x="762000" y="1000125"/>
            <a:ext cx="1524000" cy="2667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/>
            <a:r>
              <a:rPr sz="900" noProof="1">
                <a:solidFill>
                  <a:srgbClr val="EA4335"/>
                </a:solidFill>
                <a:latin typeface="MiSans"/>
                <a:ea typeface="MiSans"/>
              </a:rPr>
              <a:t>CONTROVERSIAL</a:t>
            </a:r>
          </a:p>
        </p:txBody>
      </p:sp>
      <p:sp>
        <p:nvSpPr>
          <p:cNvPr id="6" name="dsl:big-number-bg"/>
          <p:cNvSpPr/>
          <p:nvPr/>
        </p:nvSpPr>
        <p:spPr>
          <a:xfrm>
            <a:off x="571500" y="1524000"/>
            <a:ext cx="3810000" cy="1905000"/>
          </a:xfrm>
          <a:prstGeom prst="roundRect">
            <a:avLst>
              <a:gd name="adj" fmla="val 8000"/>
            </a:avLst>
          </a:prstGeom>
          <a:solidFill>
            <a:srgbClr val="141B2D"/>
          </a:solidFill>
          <a:ln w="12700">
            <a:solidFill>
              <a:srgbClr val="2A3550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dsl:big-number"/>
          <p:cNvSpPr txBox="1"/>
          <p:nvPr/>
        </p:nvSpPr>
        <p:spPr>
          <a:xfrm>
            <a:off x="762000" y="1666875"/>
            <a:ext cx="3429000" cy="8572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b="1" sz="4800" noProof="1">
                <a:solidFill>
                  <a:srgbClr val="EA4335"/>
                </a:solidFill>
                <a:latin typeface="MiSans"/>
                <a:ea typeface="MiSans"/>
              </a:rPr>
              <a:t>$93B</a:t>
            </a:r>
          </a:p>
        </p:txBody>
      </p:sp>
      <p:sp>
        <p:nvSpPr>
          <p:cNvPr id="8" name="dsl:big-number-label"/>
          <p:cNvSpPr txBox="1"/>
          <p:nvPr/>
        </p:nvSpPr>
        <p:spPr>
          <a:xfrm>
            <a:off x="762000" y="2619375"/>
            <a:ext cx="3429000" cy="2857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1350" noProof="1">
                <a:solidFill>
                  <a:srgbClr val="8B95A5"/>
                </a:solidFill>
                <a:latin typeface="MiSans"/>
                <a:ea typeface="MiSans"/>
              </a:rPr>
              <a:t>2025 CapEx Guidance</a:t>
            </a:r>
          </a:p>
        </p:txBody>
      </p:sp>
      <p:sp>
        <p:nvSpPr>
          <p:cNvPr id="9" name="dsl:big-number-range|s=$caption"/>
          <p:cNvSpPr txBox="1"/>
          <p:nvPr/>
        </p:nvSpPr>
        <p:spPr>
          <a:xfrm>
            <a:off x="762000" y="2952750"/>
            <a:ext cx="3429000" cy="2286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>
              <a:lnSpc>
                <a:spcPct val="140000"/>
              </a:lnSpc>
            </a:pPr>
            <a:r>
              <a:rPr sz="1050" noProof="1">
                <a:solidFill>
                  <a:srgbClr val="8B95A5"/>
                </a:solidFill>
                <a:latin typeface="MiSans"/>
                <a:ea typeface="MiSans"/>
              </a:rPr>
              <a:t>Range: $91B — $93B</a:t>
            </a:r>
          </a:p>
        </p:txBody>
      </p:sp>
      <p:sp>
        <p:nvSpPr>
          <p:cNvPr id="10" name="dsl:context-bg"/>
          <p:cNvSpPr/>
          <p:nvPr/>
        </p:nvSpPr>
        <p:spPr>
          <a:xfrm>
            <a:off x="4762500" y="1524000"/>
            <a:ext cx="6858000" cy="1905000"/>
          </a:xfrm>
          <a:prstGeom prst="roundRect">
            <a:avLst>
              <a:gd name="adj" fmla="val 8000"/>
            </a:avLst>
          </a:prstGeom>
          <a:solidFill>
            <a:srgbClr val="141B2D"/>
          </a:solidFill>
          <a:ln w="12700">
            <a:solidFill>
              <a:srgbClr val="2A3550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dsl:context-title"/>
          <p:cNvSpPr txBox="1"/>
          <p:nvPr/>
        </p:nvSpPr>
        <p:spPr>
          <a:xfrm>
            <a:off x="5000625" y="1666875"/>
            <a:ext cx="2857500" cy="2857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b="1" sz="1200" noProof="1">
                <a:solidFill>
                  <a:srgbClr val="8B95A5"/>
                </a:solidFill>
                <a:latin typeface="MiSans"/>
                <a:ea typeface="MiSans"/>
              </a:rPr>
              <a:t>THE DEBATE</a:t>
            </a:r>
          </a:p>
        </p:txBody>
      </p:sp>
      <p:sp>
        <p:nvSpPr>
          <p:cNvPr id="12" name="dsl:bear-view"/>
          <p:cNvSpPr txBox="1"/>
          <p:nvPr/>
        </p:nvSpPr>
        <p:spPr>
          <a:xfrm>
            <a:off x="5000625" y="2047875"/>
            <a:ext cx="3048000" cy="11430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sz="1200" noProof="1">
                <a:solidFill>
                  <a:srgbClr val="EA4335"/>
                </a:solidFill>
                <a:latin typeface="MiSans"/>
                <a:ea typeface="MiSans"/>
              </a:rPr>
              <a:t>▲ Bear View</a:t>
            </a:r>
          </a:p>
          <a:p>
            <a:pPr algn="l">
              <a:lnSpc>
                <a:spcPct val="150000"/>
              </a:lnSpc>
            </a:pPr>
            <a:r>
              <a:rPr sz="1200" noProof="1">
                <a:solidFill>
                  <a:srgbClr val="E8ECF1"/>
                </a:solidFill>
                <a:latin typeface="MiSans"/>
                <a:ea typeface="MiSans"/>
              </a:rPr>
              <a:t>"Terrifying arms race"</a:t>
            </a:r>
          </a:p>
          <a:p>
            <a:pPr algn="l">
              <a:lnSpc>
                <a:spcPct val="150000"/>
              </a:lnSpc>
            </a:pPr>
            <a:r>
              <a:rPr sz="1200" noProof="1">
                <a:solidFill>
                  <a:srgbClr val="E8ECF1"/>
                </a:solidFill>
                <a:latin typeface="MiSans"/>
                <a:ea typeface="MiSans"/>
              </a:rPr>
              <a:t>Spending just to keep up with OpenAI and Meta</a:t>
            </a:r>
          </a:p>
        </p:txBody>
      </p:sp>
      <p:sp>
        <p:nvSpPr>
          <p:cNvPr id="13" name="dsl:bull-view"/>
          <p:cNvSpPr txBox="1"/>
          <p:nvPr/>
        </p:nvSpPr>
        <p:spPr>
          <a:xfrm>
            <a:off x="8286750" y="2047875"/>
            <a:ext cx="3048000" cy="11430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sz="1200" noProof="1">
                <a:solidFill>
                  <a:srgbClr val="34A853"/>
                </a:solidFill>
                <a:latin typeface="MiSans"/>
                <a:ea typeface="MiSans"/>
              </a:rPr>
              <a:t>▲ Bull View</a:t>
            </a:r>
          </a:p>
          <a:p>
            <a:pPr algn="l">
              <a:lnSpc>
                <a:spcPct val="150000"/>
              </a:lnSpc>
            </a:pPr>
            <a:r>
              <a:rPr sz="1200" noProof="1">
                <a:solidFill>
                  <a:srgbClr val="E8ECF1"/>
                </a:solidFill>
                <a:latin typeface="MiSans"/>
                <a:ea typeface="MiSans"/>
              </a:rPr>
              <a:t>"Capital-efficient monster"</a:t>
            </a:r>
          </a:p>
          <a:p>
            <a:pPr algn="l">
              <a:lnSpc>
                <a:spcPct val="150000"/>
              </a:lnSpc>
            </a:pPr>
            <a:r>
              <a:rPr sz="1200" noProof="1">
                <a:solidFill>
                  <a:srgbClr val="E8ECF1"/>
                </a:solidFill>
                <a:latin typeface="MiSans"/>
                <a:ea typeface="MiSans"/>
              </a:rPr>
              <a:t>34% operating margin even with massive spend</a:t>
            </a:r>
          </a:p>
        </p:txBody>
      </p:sp>
      <p:sp>
        <p:nvSpPr>
          <p:cNvPr id="14" name="dsl:reddit-quote-bg"/>
          <p:cNvSpPr/>
          <p:nvPr/>
        </p:nvSpPr>
        <p:spPr>
          <a:xfrm>
            <a:off x="571500" y="3714750"/>
            <a:ext cx="11049000" cy="1143000"/>
          </a:xfrm>
          <a:prstGeom prst="roundRect">
            <a:avLst>
              <a:gd name="adj" fmla="val 8000"/>
            </a:avLst>
          </a:prstGeom>
          <a:solidFill>
            <a:srgbClr val="141B2D"/>
          </a:solidFill>
          <a:ln w="12700">
            <a:solidFill>
              <a:srgbClr val="2A3550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dsl:reddit-icon|i=fab:reddit" descr="tmp9xwfnfv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625" y="3952875"/>
            <a:ext cx="228600" cy="228600"/>
          </a:xfrm>
          <a:prstGeom prst="rect">
            <a:avLst/>
          </a:prstGeom>
          <a:ln>
            <a:noFill/>
          </a:ln>
          <a:effectLst/>
        </p:spPr>
      </p:pic>
      <p:sp>
        <p:nvSpPr>
          <p:cNvPr id="16" name="dsl:reddit-quote"/>
          <p:cNvSpPr txBox="1"/>
          <p:nvPr/>
        </p:nvSpPr>
        <p:spPr>
          <a:xfrm>
            <a:off x="1190625" y="3905250"/>
            <a:ext cx="10096500" cy="7620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i="1" sz="1350" noProof="1">
                <a:solidFill>
                  <a:srgbClr val="E8ECF1"/>
                </a:solidFill>
                <a:latin typeface="MiSans"/>
                <a:ea typeface="MiSans"/>
              </a:rPr>
              <a:t>"Sentiment on r/investing is mixed. Some are calling this a terrifying 'arms race' spend... but the counter-argument gaining traction is that Google has turned into a capital-efficient monster."</a:t>
            </a:r>
          </a:p>
        </p:txBody>
      </p:sp>
      <p:sp>
        <p:nvSpPr>
          <p:cNvPr id="17" name="dsl:takeaway-bg"/>
          <p:cNvSpPr/>
          <p:nvPr/>
        </p:nvSpPr>
        <p:spPr>
          <a:xfrm>
            <a:off x="571500" y="5143500"/>
            <a:ext cx="11049000" cy="952500"/>
          </a:xfrm>
          <a:prstGeom prst="roundRect">
            <a:avLst>
              <a:gd name="adj" fmla="val 8000"/>
            </a:avLst>
          </a:prstGeom>
          <a:solidFill>
            <a:srgbClr val="EA4335">
              <a:alpha val="8235"/>
            </a:srgbClr>
          </a:solidFill>
          <a:ln w="12700">
            <a:solidFill>
              <a:srgbClr val="EA4335">
                <a:alpha val="25098"/>
              </a:srgbClr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dsl:takeaway-icon|i=fas:scale-balanced" descr="tmpcsg95xr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9625" y="5410200"/>
            <a:ext cx="266700" cy="266700"/>
          </a:xfrm>
          <a:prstGeom prst="rect">
            <a:avLst/>
          </a:prstGeom>
          <a:ln>
            <a:noFill/>
          </a:ln>
          <a:effectLst/>
        </p:spPr>
      </p:pic>
      <p:sp>
        <p:nvSpPr>
          <p:cNvPr id="19" name="dsl:takeaway-text"/>
          <p:cNvSpPr txBox="1"/>
          <p:nvPr/>
        </p:nvSpPr>
        <p:spPr>
          <a:xfrm>
            <a:off x="1190625" y="5286375"/>
            <a:ext cx="10191750" cy="66675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50000"/>
              </a:lnSpc>
            </a:pPr>
            <a:r>
              <a:rPr b="1" sz="1350" noProof="1">
                <a:solidFill>
                  <a:srgbClr val="E8ECF1"/>
                </a:solidFill>
                <a:latin typeface="MiSans"/>
                <a:ea typeface="MiSans"/>
              </a:rPr>
              <a:t>Key Question:</a:t>
            </a:r>
            <a:r>
              <a:rPr sz="1350" noProof="1">
                <a:solidFill>
                  <a:srgbClr val="E8ECF1"/>
                </a:solidFill>
                <a:latin typeface="MiSans"/>
                <a:ea typeface="MiSans"/>
              </a:rPr>
              <a:t> Is this massive CapEx buying an insurmountable moat, or inflating an AI bubble?</a:t>
            </a:r>
          </a:p>
        </p:txBody>
      </p:sp>
      <p:sp>
        <p:nvSpPr>
          <p:cNvPr id="20" name="dsl:source|s=$caption"/>
          <p:cNvSpPr txBox="1"/>
          <p:nvPr/>
        </p:nvSpPr>
        <p:spPr>
          <a:xfrm>
            <a:off x="571500" y="6191250"/>
            <a:ext cx="5715000" cy="1905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>
              <a:lnSpc>
                <a:spcPct val="140000"/>
              </a:lnSpc>
            </a:pPr>
            <a:r>
              <a:rPr sz="1050" noProof="1">
                <a:solidFill>
                  <a:srgbClr val="8B95A5"/>
                </a:solidFill>
                <a:latin typeface="MiSans"/>
                <a:ea typeface="MiSans"/>
              </a:rPr>
              <a:t>Source: Alphabet Q3 2025 Guidance  ·  </a:t>
            </a:r>
            <a:r>
              <a:rPr sz="1050" noProof="1">
                <a:solidFill>
                  <a:srgbClr val="8B95A5"/>
                </a:solidFill>
                <a:latin typeface="MiSans"/>
                <a:ea typeface="MiSans"/>
                <a:hlinkClick r:id="rId4"/>
              </a:rPr>
              <a:t>Vizplainer Analysis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title-bar"/>
          <p:cNvSpPr/>
          <p:nvPr/>
        </p:nvSpPr>
        <p:spPr>
          <a:xfrm>
            <a:off x="571500" y="381000"/>
            <a:ext cx="38100" cy="381000"/>
          </a:xfrm>
          <a:prstGeom prst="rect">
            <a:avLst/>
          </a:prstGeom>
          <a:solidFill>
            <a:srgbClr val="FBBC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sl:page-title|s=$title"/>
          <p:cNvSpPr txBox="1"/>
          <p:nvPr/>
        </p:nvSpPr>
        <p:spPr>
          <a:xfrm>
            <a:off x="762000" y="333375"/>
            <a:ext cx="8572500" cy="4762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b="1" sz="2400" noProof="1" spc="-37">
                <a:solidFill>
                  <a:srgbClr val="E8ECF1"/>
                </a:solidFill>
                <a:latin typeface="MiSans"/>
                <a:ea typeface="MiSans"/>
              </a:rPr>
              <a:t>Insight 3: The $3.5B Fine as "Cost of Business"</a:t>
            </a:r>
          </a:p>
        </p:txBody>
      </p:sp>
      <p:sp>
        <p:nvSpPr>
          <p:cNvPr id="4" name="dsl:insight-badge"/>
          <p:cNvSpPr/>
          <p:nvPr/>
        </p:nvSpPr>
        <p:spPr>
          <a:xfrm>
            <a:off x="762000" y="1000125"/>
            <a:ext cx="1714500" cy="266700"/>
          </a:xfrm>
          <a:prstGeom prst="roundRect">
            <a:avLst>
              <a:gd name="adj" fmla="val 50000"/>
            </a:avLst>
          </a:prstGeom>
          <a:solidFill>
            <a:srgbClr val="FBBC05">
              <a:alpha val="12549"/>
            </a:srgbClr>
          </a:solidFill>
          <a:ln w="12700">
            <a:solidFill>
              <a:srgbClr val="FBBC05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dsl:insight-badge-text"/>
          <p:cNvSpPr txBox="1"/>
          <p:nvPr/>
        </p:nvSpPr>
        <p:spPr>
          <a:xfrm>
            <a:off x="762000" y="1000125"/>
            <a:ext cx="1714500" cy="2667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/>
            <a:r>
              <a:rPr sz="900" noProof="1">
                <a:solidFill>
                  <a:srgbClr val="FBBC05"/>
                </a:solidFill>
                <a:latin typeface="MiSans"/>
                <a:ea typeface="MiSans"/>
              </a:rPr>
              <a:t>RESILIENCE TEST</a:t>
            </a:r>
          </a:p>
        </p:txBody>
      </p:sp>
      <p:sp>
        <p:nvSpPr>
          <p:cNvPr id="6" name="dsl:fine-card-bg"/>
          <p:cNvSpPr/>
          <p:nvPr/>
        </p:nvSpPr>
        <p:spPr>
          <a:xfrm>
            <a:off x="571500" y="1524000"/>
            <a:ext cx="4762500" cy="1905000"/>
          </a:xfrm>
          <a:prstGeom prst="roundRect">
            <a:avLst>
              <a:gd name="adj" fmla="val 8000"/>
            </a:avLst>
          </a:prstGeom>
          <a:solidFill>
            <a:srgbClr val="141B2D"/>
          </a:solidFill>
          <a:ln w="12700">
            <a:solidFill>
              <a:srgbClr val="2A3550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dsl:fine-icon|i=fas:gavel" descr="tmpcvd8r6y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625" y="1714500"/>
            <a:ext cx="342900" cy="342900"/>
          </a:xfrm>
          <a:prstGeom prst="rect">
            <a:avLst/>
          </a:prstGeom>
          <a:ln>
            <a:noFill/>
          </a:ln>
          <a:effectLst/>
        </p:spPr>
      </p:pic>
      <p:sp>
        <p:nvSpPr>
          <p:cNvPr id="8" name="dsl:fine-amount"/>
          <p:cNvSpPr txBox="1"/>
          <p:nvPr/>
        </p:nvSpPr>
        <p:spPr>
          <a:xfrm>
            <a:off x="809625" y="2143125"/>
            <a:ext cx="4286250" cy="6667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b="1" sz="3900" noProof="1">
                <a:solidFill>
                  <a:srgbClr val="EA4335"/>
                </a:solidFill>
                <a:latin typeface="MiSans"/>
                <a:ea typeface="MiSans"/>
              </a:rPr>
              <a:t>$3.5B</a:t>
            </a:r>
          </a:p>
        </p:txBody>
      </p:sp>
      <p:sp>
        <p:nvSpPr>
          <p:cNvPr id="9" name="dsl:fine-label"/>
          <p:cNvSpPr txBox="1"/>
          <p:nvPr/>
        </p:nvSpPr>
        <p:spPr>
          <a:xfrm>
            <a:off x="809625" y="2905125"/>
            <a:ext cx="4286250" cy="2857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1350" noProof="1">
                <a:solidFill>
                  <a:srgbClr val="8B95A5"/>
                </a:solidFill>
                <a:latin typeface="MiSans"/>
                <a:ea typeface="MiSans"/>
              </a:rPr>
              <a:t>EU Antitrust Fine (European Commission)</a:t>
            </a:r>
          </a:p>
        </p:txBody>
      </p:sp>
      <p:sp>
        <p:nvSpPr>
          <p:cNvPr id="10" name="dsl:impact-card-bg"/>
          <p:cNvSpPr/>
          <p:nvPr/>
        </p:nvSpPr>
        <p:spPr>
          <a:xfrm>
            <a:off x="5715000" y="1524000"/>
            <a:ext cx="5905500" cy="1905000"/>
          </a:xfrm>
          <a:prstGeom prst="roundRect">
            <a:avLst>
              <a:gd name="adj" fmla="val 8000"/>
            </a:avLst>
          </a:prstGeom>
          <a:solidFill>
            <a:srgbClr val="141B2D"/>
          </a:solidFill>
          <a:ln w="12700">
            <a:solidFill>
              <a:srgbClr val="2A3550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dsl:impact-title"/>
          <p:cNvSpPr txBox="1"/>
          <p:nvPr/>
        </p:nvSpPr>
        <p:spPr>
          <a:xfrm>
            <a:off x="5953125" y="1666875"/>
            <a:ext cx="2857500" cy="2857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b="1" sz="1200" noProof="1">
                <a:solidFill>
                  <a:srgbClr val="8B95A5"/>
                </a:solidFill>
                <a:latin typeface="MiSans"/>
                <a:ea typeface="MiSans"/>
              </a:rPr>
              <a:t>MARKET IMPACT</a:t>
            </a:r>
          </a:p>
        </p:txBody>
      </p:sp>
      <p:sp>
        <p:nvSpPr>
          <p:cNvPr id="12" name="dsl:impact-then"/>
          <p:cNvSpPr txBox="1"/>
          <p:nvPr/>
        </p:nvSpPr>
        <p:spPr>
          <a:xfrm>
            <a:off x="5953125" y="2047875"/>
            <a:ext cx="2571750" cy="11430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sz="1200" noProof="1">
                <a:solidFill>
                  <a:srgbClr val="8B95A5"/>
                </a:solidFill>
                <a:latin typeface="MiSans"/>
                <a:ea typeface="MiSans"/>
              </a:rPr>
              <a:t>Two Years Ago</a:t>
            </a:r>
          </a:p>
          <a:p>
            <a:pPr algn="l">
              <a:lnSpc>
                <a:spcPct val="150000"/>
              </a:lnSpc>
              <a:spcBef>
                <a:spcPts val="300"/>
              </a:spcBef>
            </a:pPr>
            <a:r>
              <a:rPr sz="1200" noProof="1">
                <a:solidFill>
                  <a:srgbClr val="E8ECF1"/>
                </a:solidFill>
                <a:latin typeface="MiSans"/>
                <a:ea typeface="MiSans"/>
              </a:rPr>
              <a:t>News like this would have </a:t>
            </a:r>
            <a:r>
              <a:rPr sz="1200" noProof="1">
                <a:solidFill>
                  <a:srgbClr val="EA4335"/>
                </a:solidFill>
                <a:latin typeface="MiSans"/>
                <a:ea typeface="MiSans"/>
              </a:rPr>
              <a:t>tanked the stock</a:t>
            </a:r>
          </a:p>
        </p:txBody>
      </p:sp>
      <p:cxnSp>
        <p:nvCxnSpPr>
          <p:cNvPr id="13" name="dsl:impact-arrow"/>
          <p:cNvCxnSpPr/>
          <p:nvPr/>
        </p:nvCxnSpPr>
        <p:spPr>
          <a:xfrm>
            <a:off x="8667750" y="2476500"/>
            <a:ext cx="571500" cy="0"/>
          </a:xfrm>
          <a:prstGeom prst="straightConnector1">
            <a:avLst/>
          </a:prstGeom>
          <a:ln w="25400">
            <a:solidFill>
              <a:srgbClr val="34A853"/>
            </a:solidFill>
            <a:prstDash val="solid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dsl:impact-now"/>
          <p:cNvSpPr txBox="1"/>
          <p:nvPr/>
        </p:nvSpPr>
        <p:spPr>
          <a:xfrm>
            <a:off x="9334500" y="2047875"/>
            <a:ext cx="2095500" cy="11430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sz="1200" noProof="1">
                <a:solidFill>
                  <a:srgbClr val="8B95A5"/>
                </a:solidFill>
                <a:latin typeface="MiSans"/>
                <a:ea typeface="MiSans"/>
              </a:rPr>
              <a:t>Today</a:t>
            </a:r>
          </a:p>
          <a:p>
            <a:pPr algn="l">
              <a:lnSpc>
                <a:spcPct val="150000"/>
              </a:lnSpc>
              <a:spcBef>
                <a:spcPts val="300"/>
              </a:spcBef>
            </a:pPr>
            <a:r>
              <a:rPr sz="1200" noProof="1">
                <a:solidFill>
                  <a:srgbClr val="E8ECF1"/>
                </a:solidFill>
                <a:latin typeface="MiSans"/>
                <a:ea typeface="MiSans"/>
              </a:rPr>
              <a:t>Treated as </a:t>
            </a:r>
            <a:r>
              <a:rPr sz="1200" noProof="1">
                <a:solidFill>
                  <a:srgbClr val="34A853"/>
                </a:solidFill>
                <a:latin typeface="MiSans"/>
                <a:ea typeface="MiSans"/>
              </a:rPr>
              <a:t>"cost of doing business"</a:t>
            </a:r>
          </a:p>
        </p:txBody>
      </p:sp>
      <p:sp>
        <p:nvSpPr>
          <p:cNvPr id="15" name="dsl:quote-bg"/>
          <p:cNvSpPr/>
          <p:nvPr/>
        </p:nvSpPr>
        <p:spPr>
          <a:xfrm>
            <a:off x="571500" y="3714750"/>
            <a:ext cx="11049000" cy="1143000"/>
          </a:xfrm>
          <a:prstGeom prst="roundRect">
            <a:avLst>
              <a:gd name="adj" fmla="val 8000"/>
            </a:avLst>
          </a:prstGeom>
          <a:solidFill>
            <a:srgbClr val="141B2D"/>
          </a:solidFill>
          <a:ln w="12700">
            <a:solidFill>
              <a:srgbClr val="2A3550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dsl:quote-icon|i=fas:quote-left" descr="tmp8wol88j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9625" y="3952875"/>
            <a:ext cx="228600" cy="228600"/>
          </a:xfrm>
          <a:prstGeom prst="rect">
            <a:avLst/>
          </a:prstGeom>
          <a:ln>
            <a:noFill/>
          </a:ln>
          <a:effectLst/>
        </p:spPr>
      </p:pic>
      <p:sp>
        <p:nvSpPr>
          <p:cNvPr id="17" name="dsl:quote-text"/>
          <p:cNvSpPr txBox="1"/>
          <p:nvPr/>
        </p:nvSpPr>
        <p:spPr>
          <a:xfrm>
            <a:off x="1190625" y="3905250"/>
            <a:ext cx="10096500" cy="7620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i="1" sz="1350" noProof="1">
                <a:solidFill>
                  <a:srgbClr val="E8ECF1"/>
                </a:solidFill>
                <a:latin typeface="MiSans"/>
                <a:ea typeface="MiSans"/>
              </a:rPr>
              <a:t>"The fact that they can absorb a multi-billion dollar hit and still grow Net Income by 33% is frankly ridiculous."</a:t>
            </a:r>
          </a:p>
          <a:p>
            <a:pPr algn="l">
              <a:lnSpc>
                <a:spcPct val="150000"/>
              </a:lnSpc>
              <a:spcBef>
                <a:spcPts val="600"/>
              </a:spcBef>
            </a:pPr>
            <a:r>
              <a:rPr sz="1050" noProof="1">
                <a:solidFill>
                  <a:srgbClr val="8B95A5"/>
                </a:solidFill>
                <a:latin typeface="MiSans"/>
                <a:ea typeface="MiSans"/>
              </a:rPr>
              <a:t>— Community analysis consensus</a:t>
            </a:r>
          </a:p>
        </p:txBody>
      </p:sp>
      <p:sp>
        <p:nvSpPr>
          <p:cNvPr id="18" name="dsl:takeaway-bg"/>
          <p:cNvSpPr/>
          <p:nvPr/>
        </p:nvSpPr>
        <p:spPr>
          <a:xfrm>
            <a:off x="571500" y="5143500"/>
            <a:ext cx="11049000" cy="952500"/>
          </a:xfrm>
          <a:prstGeom prst="roundRect">
            <a:avLst>
              <a:gd name="adj" fmla="val 8000"/>
            </a:avLst>
          </a:prstGeom>
          <a:solidFill>
            <a:srgbClr val="FBBC05">
              <a:alpha val="8235"/>
            </a:srgbClr>
          </a:solidFill>
          <a:ln w="12700">
            <a:solidFill>
              <a:srgbClr val="FBBC05">
                <a:alpha val="25098"/>
              </a:srgbClr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dsl:takeaway-icon|i=fas:shield-halved" descr="tmpangjomx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625" y="5410200"/>
            <a:ext cx="266700" cy="266700"/>
          </a:xfrm>
          <a:prstGeom prst="rect">
            <a:avLst/>
          </a:prstGeom>
          <a:ln>
            <a:noFill/>
          </a:ln>
          <a:effectLst/>
        </p:spPr>
      </p:pic>
      <p:sp>
        <p:nvSpPr>
          <p:cNvPr id="20" name="dsl:takeaway-text"/>
          <p:cNvSpPr txBox="1"/>
          <p:nvPr/>
        </p:nvSpPr>
        <p:spPr>
          <a:xfrm>
            <a:off x="1190625" y="5286375"/>
            <a:ext cx="10191750" cy="66675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50000"/>
              </a:lnSpc>
            </a:pPr>
            <a:r>
              <a:rPr b="1" sz="1350" noProof="1">
                <a:solidFill>
                  <a:srgbClr val="E8ECF1"/>
                </a:solidFill>
                <a:latin typeface="MiSans"/>
                <a:ea typeface="MiSans"/>
              </a:rPr>
              <a:t>Key Takeaway:</a:t>
            </a:r>
            <a:r>
              <a:rPr sz="1350" noProof="1">
                <a:solidFill>
                  <a:srgbClr val="E8ECF1"/>
                </a:solidFill>
                <a:latin typeface="MiSans"/>
                <a:ea typeface="MiSans"/>
              </a:rPr>
              <a:t> Alphabet's financial resilience has reached a point where multi-billion regulatory fines are no longer market-moving events.</a:t>
            </a:r>
          </a:p>
        </p:txBody>
      </p:sp>
      <p:sp>
        <p:nvSpPr>
          <p:cNvPr id="21" name="dsl:source|s=$caption"/>
          <p:cNvSpPr txBox="1"/>
          <p:nvPr/>
        </p:nvSpPr>
        <p:spPr>
          <a:xfrm>
            <a:off x="571500" y="6191250"/>
            <a:ext cx="5715000" cy="1905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>
              <a:lnSpc>
                <a:spcPct val="140000"/>
              </a:lnSpc>
            </a:pPr>
            <a:r>
              <a:rPr sz="1050" noProof="1">
                <a:solidFill>
                  <a:srgbClr val="8B95A5"/>
                </a:solidFill>
                <a:latin typeface="MiSans"/>
                <a:ea typeface="MiSans"/>
              </a:rPr>
              <a:t>Source: European Commission  ·  </a:t>
            </a:r>
            <a:r>
              <a:rPr sz="1050" noProof="1">
                <a:solidFill>
                  <a:srgbClr val="8B95A5"/>
                </a:solidFill>
                <a:latin typeface="MiSans"/>
                <a:ea typeface="MiSans"/>
                <a:hlinkClick r:id="rId5"/>
              </a:rPr>
              <a:t>Vizplainer Analysis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ch-num"/>
          <p:cNvSpPr txBox="1"/>
          <p:nvPr/>
        </p:nvSpPr>
        <p:spPr>
          <a:xfrm>
            <a:off x="571500" y="1905000"/>
            <a:ext cx="2857500" cy="9525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7200" noProof="1">
                <a:solidFill>
                  <a:srgbClr val="4285F4"/>
                </a:solidFill>
                <a:latin typeface="MiSans"/>
                <a:ea typeface="MiSans"/>
              </a:rPr>
              <a:t>03</a:t>
            </a:r>
          </a:p>
        </p:txBody>
      </p:sp>
      <p:sp>
        <p:nvSpPr>
          <p:cNvPr id="3" name="dsl:accent-bar"/>
          <p:cNvSpPr/>
          <p:nvPr/>
        </p:nvSpPr>
        <p:spPr>
          <a:xfrm>
            <a:off x="571500" y="3048000"/>
            <a:ext cx="762000" cy="38100"/>
          </a:xfrm>
          <a:prstGeom prst="rect">
            <a:avLst/>
          </a:prstGeom>
          <a:solidFill>
            <a:srgbClr val="428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sl:ch-title|s=$title"/>
          <p:cNvSpPr txBox="1"/>
          <p:nvPr/>
        </p:nvSpPr>
        <p:spPr>
          <a:xfrm>
            <a:off x="571500" y="3333750"/>
            <a:ext cx="7620000" cy="5715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b="1" sz="3000" noProof="1" spc="-37">
                <a:solidFill>
                  <a:srgbClr val="E8ECF1"/>
                </a:solidFill>
                <a:latin typeface="MiSans"/>
                <a:ea typeface="MiSans"/>
              </a:rPr>
              <a:t>Community Sentiment</a:t>
            </a:r>
          </a:p>
        </p:txBody>
      </p:sp>
      <p:sp>
        <p:nvSpPr>
          <p:cNvPr id="5" name="dsl:ch-subtitle|s=$subtitle"/>
          <p:cNvSpPr txBox="1"/>
          <p:nvPr/>
        </p:nvSpPr>
        <p:spPr>
          <a:xfrm>
            <a:off x="571500" y="4000500"/>
            <a:ext cx="8572500" cy="3810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>
              <a:lnSpc>
                <a:spcPct val="140000"/>
              </a:lnSpc>
            </a:pPr>
            <a:r>
              <a:rPr sz="1800" noProof="1">
                <a:solidFill>
                  <a:srgbClr val="8B95A5"/>
                </a:solidFill>
                <a:latin typeface="MiSans"/>
                <a:ea typeface="MiSans"/>
              </a:rPr>
              <a:t>What Reddit, Hacker News, and X are saying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title-bar"/>
          <p:cNvSpPr/>
          <p:nvPr/>
        </p:nvSpPr>
        <p:spPr>
          <a:xfrm>
            <a:off x="571500" y="381000"/>
            <a:ext cx="38100" cy="381000"/>
          </a:xfrm>
          <a:prstGeom prst="rect">
            <a:avLst/>
          </a:prstGeom>
          <a:solidFill>
            <a:srgbClr val="428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sl:page-title|s=$title"/>
          <p:cNvSpPr txBox="1"/>
          <p:nvPr/>
        </p:nvSpPr>
        <p:spPr>
          <a:xfrm>
            <a:off x="762000" y="333375"/>
            <a:ext cx="7620000" cy="4762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b="1" sz="2400" noProof="1" spc="-37">
                <a:solidFill>
                  <a:srgbClr val="E8ECF1"/>
                </a:solidFill>
                <a:latin typeface="MiSans"/>
                <a:ea typeface="MiSans"/>
              </a:rPr>
              <a:t>Bull vs Bear: The Community Divide</a:t>
            </a:r>
          </a:p>
        </p:txBody>
      </p:sp>
      <p:sp>
        <p:nvSpPr>
          <p:cNvPr id="4" name="dsl:bull-card-bg"/>
          <p:cNvSpPr/>
          <p:nvPr/>
        </p:nvSpPr>
        <p:spPr>
          <a:xfrm>
            <a:off x="571500" y="1047750"/>
            <a:ext cx="5286375" cy="3810000"/>
          </a:xfrm>
          <a:prstGeom prst="roundRect">
            <a:avLst>
              <a:gd name="adj" fmla="val 8000"/>
            </a:avLst>
          </a:prstGeom>
          <a:solidFill>
            <a:srgbClr val="34A853">
              <a:alpha val="6274"/>
            </a:srgbClr>
          </a:solidFill>
          <a:ln w="12700">
            <a:solidFill>
              <a:srgbClr val="34A853">
                <a:alpha val="25098"/>
              </a:srgbClr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dsl:bull-header-bg"/>
          <p:cNvSpPr/>
          <p:nvPr/>
        </p:nvSpPr>
        <p:spPr>
          <a:xfrm>
            <a:off x="571500" y="1047750"/>
            <a:ext cx="5286375" cy="476250"/>
          </a:xfrm>
          <a:prstGeom prst="roundRect">
            <a:avLst>
              <a:gd name="adj" fmla="val 8000"/>
            </a:avLst>
          </a:prstGeom>
          <a:solidFill>
            <a:srgbClr val="34A853">
              <a:alpha val="18823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dsl:bull-icon|i=fas:arrow-trend-up" descr="tmptbzu6ggv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1162050"/>
            <a:ext cx="228600" cy="228600"/>
          </a:xfrm>
          <a:prstGeom prst="rect">
            <a:avLst/>
          </a:prstGeom>
          <a:ln>
            <a:noFill/>
          </a:ln>
          <a:effectLst/>
        </p:spPr>
      </p:pic>
      <p:sp>
        <p:nvSpPr>
          <p:cNvPr id="7" name="dsl:bull-title"/>
          <p:cNvSpPr txBox="1"/>
          <p:nvPr/>
        </p:nvSpPr>
        <p:spPr>
          <a:xfrm>
            <a:off x="1095375" y="1095375"/>
            <a:ext cx="1905000" cy="3429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b="1" sz="1650" noProof="1">
                <a:solidFill>
                  <a:srgbClr val="34A853"/>
                </a:solidFill>
                <a:latin typeface="MiSans"/>
                <a:ea typeface="MiSans"/>
              </a:rPr>
              <a:t>BULL CASE</a:t>
            </a:r>
          </a:p>
        </p:txBody>
      </p:sp>
      <p:sp>
        <p:nvSpPr>
          <p:cNvPr id="8" name="dsl:bull-content"/>
          <p:cNvSpPr txBox="1"/>
          <p:nvPr/>
        </p:nvSpPr>
        <p:spPr>
          <a:xfrm>
            <a:off x="762000" y="1714500"/>
            <a:ext cx="4953000" cy="295275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70000"/>
              </a:lnSpc>
            </a:pPr>
            <a:r>
              <a:rPr sz="1275" noProof="1">
                <a:solidFill>
                  <a:srgbClr val="34A853"/>
                </a:solidFill>
                <a:latin typeface="MiSans"/>
                <a:ea typeface="MiSans"/>
              </a:rPr>
              <a:t>▸</a:t>
            </a:r>
            <a:r>
              <a:rPr sz="1275" noProof="1">
                <a:solidFill>
                  <a:srgbClr val="E8ECF1"/>
                </a:solidFill>
                <a:latin typeface="MiSans"/>
                <a:ea typeface="MiSans"/>
              </a:rPr>
              <a:t> </a:t>
            </a:r>
            <a:r>
              <a:rPr b="1" sz="1275" noProof="1">
                <a:solidFill>
                  <a:srgbClr val="E8ECF1"/>
                </a:solidFill>
                <a:latin typeface="MiSans"/>
                <a:ea typeface="MiSans"/>
              </a:rPr>
              <a:t>650M Gemini MAU</a:t>
            </a:r>
            <a:r>
              <a:rPr sz="1275" noProof="1">
                <a:solidFill>
                  <a:srgbClr val="E8ECF1"/>
                </a:solidFill>
                <a:latin typeface="MiSans"/>
                <a:ea typeface="MiSans"/>
              </a:rPr>
              <a:t> — massive user adoption</a:t>
            </a:r>
          </a:p>
          <a:p>
            <a:pPr algn="l">
              <a:lnSpc>
                <a:spcPct val="170000"/>
              </a:lnSpc>
            </a:pPr>
            <a:r>
              <a:rPr sz="1275" noProof="1">
                <a:solidFill>
                  <a:srgbClr val="34A853"/>
                </a:solidFill>
                <a:latin typeface="MiSans"/>
                <a:ea typeface="MiSans"/>
              </a:rPr>
              <a:t>▸</a:t>
            </a:r>
            <a:r>
              <a:rPr sz="1275" noProof="1">
                <a:solidFill>
                  <a:srgbClr val="E8ECF1"/>
                </a:solidFill>
                <a:latin typeface="MiSans"/>
                <a:ea typeface="MiSans"/>
              </a:rPr>
              <a:t> </a:t>
            </a:r>
            <a:r>
              <a:rPr b="1" sz="1275" noProof="1">
                <a:solidFill>
                  <a:srgbClr val="E8ECF1"/>
                </a:solidFill>
                <a:latin typeface="MiSans"/>
                <a:ea typeface="MiSans"/>
              </a:rPr>
              <a:t>Search revenue up double digits</a:t>
            </a:r>
            <a:r>
              <a:rPr sz="1275" noProof="1">
                <a:solidFill>
                  <a:srgbClr val="E8ECF1"/>
                </a:solidFill>
                <a:latin typeface="MiSans"/>
                <a:ea typeface="MiSans"/>
              </a:rPr>
              <a:t> — chatbots didn't kill search</a:t>
            </a:r>
          </a:p>
          <a:p>
            <a:pPr algn="l">
              <a:lnSpc>
                <a:spcPct val="170000"/>
              </a:lnSpc>
            </a:pPr>
            <a:r>
              <a:rPr sz="1275" noProof="1">
                <a:solidFill>
                  <a:srgbClr val="34A853"/>
                </a:solidFill>
                <a:latin typeface="MiSans"/>
                <a:ea typeface="MiSans"/>
              </a:rPr>
              <a:t>▸</a:t>
            </a:r>
            <a:r>
              <a:rPr sz="1275" noProof="1">
                <a:solidFill>
                  <a:srgbClr val="E8ECF1"/>
                </a:solidFill>
                <a:latin typeface="MiSans"/>
                <a:ea typeface="MiSans"/>
              </a:rPr>
              <a:t> </a:t>
            </a:r>
            <a:r>
              <a:rPr b="1" sz="1275" noProof="1">
                <a:solidFill>
                  <a:srgbClr val="E8ECF1"/>
                </a:solidFill>
                <a:latin typeface="MiSans"/>
                <a:ea typeface="MiSans"/>
              </a:rPr>
              <a:t>34% operating margin</a:t>
            </a:r>
            <a:r>
              <a:rPr sz="1275" noProof="1">
                <a:solidFill>
                  <a:srgbClr val="E8ECF1"/>
                </a:solidFill>
                <a:latin typeface="MiSans"/>
                <a:ea typeface="MiSans"/>
              </a:rPr>
              <a:t> — capital efficiency maintained</a:t>
            </a:r>
          </a:p>
          <a:p>
            <a:pPr algn="l">
              <a:lnSpc>
                <a:spcPct val="170000"/>
              </a:lnSpc>
            </a:pPr>
            <a:r>
              <a:rPr sz="1275" noProof="1">
                <a:solidFill>
                  <a:srgbClr val="34A853"/>
                </a:solidFill>
                <a:latin typeface="MiSans"/>
                <a:ea typeface="MiSans"/>
              </a:rPr>
              <a:t>▸</a:t>
            </a:r>
            <a:r>
              <a:rPr sz="1275" noProof="1">
                <a:solidFill>
                  <a:srgbClr val="E8ECF1"/>
                </a:solidFill>
                <a:latin typeface="MiSans"/>
                <a:ea typeface="MiSans"/>
              </a:rPr>
              <a:t> </a:t>
            </a:r>
            <a:r>
              <a:rPr b="1" sz="1275" noProof="1">
                <a:solidFill>
                  <a:srgbClr val="E8ECF1"/>
                </a:solidFill>
                <a:latin typeface="MiSans"/>
                <a:ea typeface="MiSans"/>
              </a:rPr>
              <a:t>Cloud +34%</a:t>
            </a:r>
            <a:r>
              <a:rPr sz="1275" noProof="1">
                <a:solidFill>
                  <a:srgbClr val="E8ECF1"/>
                </a:solidFill>
                <a:latin typeface="MiSans"/>
                <a:ea typeface="MiSans"/>
              </a:rPr>
              <a:t> — enterprise AI migration real</a:t>
            </a:r>
          </a:p>
          <a:p>
            <a:pPr algn="l">
              <a:lnSpc>
                <a:spcPct val="170000"/>
              </a:lnSpc>
            </a:pPr>
            <a:r>
              <a:rPr sz="1275" noProof="1">
                <a:solidFill>
                  <a:srgbClr val="34A853"/>
                </a:solidFill>
                <a:latin typeface="MiSans"/>
                <a:ea typeface="MiSans"/>
              </a:rPr>
              <a:t>▸</a:t>
            </a:r>
            <a:r>
              <a:rPr sz="1275" noProof="1">
                <a:solidFill>
                  <a:srgbClr val="E8ECF1"/>
                </a:solidFill>
                <a:latin typeface="MiSans"/>
                <a:ea typeface="MiSans"/>
              </a:rPr>
              <a:t> </a:t>
            </a:r>
            <a:r>
              <a:rPr b="1" sz="1275" noProof="1">
                <a:solidFill>
                  <a:srgbClr val="E8ECF1"/>
                </a:solidFill>
                <a:latin typeface="MiSans"/>
                <a:ea typeface="MiSans"/>
              </a:rPr>
              <a:t>$102B quarter</a:t>
            </a:r>
            <a:r>
              <a:rPr sz="1275" noProof="1">
                <a:solidFill>
                  <a:srgbClr val="E8ECF1"/>
                </a:solidFill>
                <a:latin typeface="MiSans"/>
                <a:ea typeface="MiSans"/>
              </a:rPr>
              <a:t> — first in history</a:t>
            </a:r>
          </a:p>
          <a:p>
            <a:pPr algn="l">
              <a:lnSpc>
                <a:spcPct val="170000"/>
              </a:lnSpc>
              <a:spcBef>
                <a:spcPts val="1200"/>
              </a:spcBef>
            </a:pPr>
            <a:r>
              <a:rPr sz="1275" noProof="1">
                <a:solidFill>
                  <a:srgbClr val="34A853"/>
                </a:solidFill>
                <a:latin typeface="MiSans"/>
                <a:ea typeface="MiSans"/>
              </a:rPr>
              <a:t>▸</a:t>
            </a:r>
            <a:r>
              <a:rPr sz="1275" noProof="1">
                <a:solidFill>
                  <a:srgbClr val="E8ECF1"/>
                </a:solidFill>
                <a:latin typeface="MiSans"/>
                <a:ea typeface="MiSans"/>
              </a:rPr>
              <a:t> </a:t>
            </a:r>
            <a:r>
              <a:rPr b="1" sz="1275" noProof="1">
                <a:solidFill>
                  <a:srgbClr val="E8ECF1"/>
                </a:solidFill>
                <a:latin typeface="MiSans"/>
                <a:ea typeface="MiSans"/>
              </a:rPr>
              <a:t>"Insurmountable moat"</a:t>
            </a:r>
          </a:p>
          <a:p>
            <a:pPr algn="l">
              <a:lnSpc>
                <a:spcPct val="170000"/>
              </a:lnSpc>
            </a:pPr>
            <a:r>
              <a:rPr sz="1050" noProof="1">
                <a:solidFill>
                  <a:srgbClr val="8B95A5"/>
                </a:solidFill>
                <a:latin typeface="MiSans"/>
                <a:ea typeface="MiSans"/>
              </a:rPr>
              <a:t>via infrastructure scale</a:t>
            </a:r>
          </a:p>
        </p:txBody>
      </p:sp>
      <p:sp>
        <p:nvSpPr>
          <p:cNvPr id="9" name="dsl:bear-card-bg"/>
          <p:cNvSpPr/>
          <p:nvPr/>
        </p:nvSpPr>
        <p:spPr>
          <a:xfrm>
            <a:off x="6143625" y="1047750"/>
            <a:ext cx="5476875" cy="3810000"/>
          </a:xfrm>
          <a:prstGeom prst="roundRect">
            <a:avLst>
              <a:gd name="adj" fmla="val 8000"/>
            </a:avLst>
          </a:prstGeom>
          <a:solidFill>
            <a:srgbClr val="EA4335">
              <a:alpha val="6274"/>
            </a:srgbClr>
          </a:solidFill>
          <a:ln w="12700">
            <a:solidFill>
              <a:srgbClr val="EA4335">
                <a:alpha val="25098"/>
              </a:srgbClr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dsl:bear-header-bg"/>
          <p:cNvSpPr/>
          <p:nvPr/>
        </p:nvSpPr>
        <p:spPr>
          <a:xfrm>
            <a:off x="6143625" y="1047750"/>
            <a:ext cx="5476875" cy="476250"/>
          </a:xfrm>
          <a:prstGeom prst="roundRect">
            <a:avLst>
              <a:gd name="adj" fmla="val 8000"/>
            </a:avLst>
          </a:prstGeom>
          <a:solidFill>
            <a:srgbClr val="EA4335">
              <a:alpha val="18823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dsl:bear-icon|i=fas:arrow-trend-down" descr="tmpkjkctje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4125" y="1162050"/>
            <a:ext cx="228600" cy="228600"/>
          </a:xfrm>
          <a:prstGeom prst="rect">
            <a:avLst/>
          </a:prstGeom>
          <a:ln>
            <a:noFill/>
          </a:ln>
          <a:effectLst/>
        </p:spPr>
      </p:pic>
      <p:sp>
        <p:nvSpPr>
          <p:cNvPr id="12" name="dsl:bear-title"/>
          <p:cNvSpPr txBox="1"/>
          <p:nvPr/>
        </p:nvSpPr>
        <p:spPr>
          <a:xfrm>
            <a:off x="6667500" y="1095375"/>
            <a:ext cx="1905000" cy="3429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b="1" sz="1650" noProof="1">
                <a:solidFill>
                  <a:srgbClr val="EA4335"/>
                </a:solidFill>
                <a:latin typeface="MiSans"/>
                <a:ea typeface="MiSans"/>
              </a:rPr>
              <a:t>BEAR CASE</a:t>
            </a:r>
          </a:p>
        </p:txBody>
      </p:sp>
      <p:sp>
        <p:nvSpPr>
          <p:cNvPr id="13" name="dsl:bear-content"/>
          <p:cNvSpPr txBox="1"/>
          <p:nvPr/>
        </p:nvSpPr>
        <p:spPr>
          <a:xfrm>
            <a:off x="6334125" y="1714500"/>
            <a:ext cx="5143500" cy="295275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70000"/>
              </a:lnSpc>
            </a:pPr>
            <a:r>
              <a:rPr sz="1275" noProof="1">
                <a:solidFill>
                  <a:srgbClr val="EA4335"/>
                </a:solidFill>
                <a:latin typeface="MiSans"/>
                <a:ea typeface="MiSans"/>
              </a:rPr>
              <a:t>▸</a:t>
            </a:r>
            <a:r>
              <a:rPr sz="1275" noProof="1">
                <a:solidFill>
                  <a:srgbClr val="E8ECF1"/>
                </a:solidFill>
                <a:latin typeface="MiSans"/>
                <a:ea typeface="MiSans"/>
              </a:rPr>
              <a:t> </a:t>
            </a:r>
            <a:r>
              <a:rPr b="1" sz="1275" noProof="1">
                <a:solidFill>
                  <a:srgbClr val="E8ECF1"/>
                </a:solidFill>
                <a:latin typeface="MiSans"/>
                <a:ea typeface="MiSans"/>
              </a:rPr>
              <a:t>$93B CapEx</a:t>
            </a:r>
            <a:r>
              <a:rPr sz="1275" noProof="1">
                <a:solidFill>
                  <a:srgbClr val="E8ECF1"/>
                </a:solidFill>
                <a:latin typeface="MiSans"/>
                <a:ea typeface="MiSans"/>
              </a:rPr>
              <a:t> — unsustainable spending?</a:t>
            </a:r>
          </a:p>
          <a:p>
            <a:pPr algn="l">
              <a:lnSpc>
                <a:spcPct val="170000"/>
              </a:lnSpc>
            </a:pPr>
            <a:r>
              <a:rPr sz="1275" noProof="1">
                <a:solidFill>
                  <a:srgbClr val="EA4335"/>
                </a:solidFill>
                <a:latin typeface="MiSans"/>
                <a:ea typeface="MiSans"/>
              </a:rPr>
              <a:t>▸</a:t>
            </a:r>
            <a:r>
              <a:rPr sz="1275" noProof="1">
                <a:solidFill>
                  <a:srgbClr val="E8ECF1"/>
                </a:solidFill>
                <a:latin typeface="MiSans"/>
                <a:ea typeface="MiSans"/>
              </a:rPr>
              <a:t> </a:t>
            </a:r>
            <a:r>
              <a:rPr b="1" sz="1275" noProof="1">
                <a:solidFill>
                  <a:srgbClr val="E8ECF1"/>
                </a:solidFill>
                <a:latin typeface="MiSans"/>
                <a:ea typeface="MiSans"/>
              </a:rPr>
              <a:t>"Arms race"</a:t>
            </a:r>
            <a:r>
              <a:rPr sz="1275" noProof="1">
                <a:solidFill>
                  <a:srgbClr val="E8ECF1"/>
                </a:solidFill>
                <a:latin typeface="MiSans"/>
                <a:ea typeface="MiSans"/>
              </a:rPr>
              <a:t> — just keeping up with OpenAI &amp; Meta</a:t>
            </a:r>
          </a:p>
          <a:p>
            <a:pPr algn="l">
              <a:lnSpc>
                <a:spcPct val="170000"/>
              </a:lnSpc>
            </a:pPr>
            <a:r>
              <a:rPr sz="1275" noProof="1">
                <a:solidFill>
                  <a:srgbClr val="EA4335"/>
                </a:solidFill>
                <a:latin typeface="MiSans"/>
                <a:ea typeface="MiSans"/>
              </a:rPr>
              <a:t>▸</a:t>
            </a:r>
            <a:r>
              <a:rPr sz="1275" noProof="1">
                <a:solidFill>
                  <a:srgbClr val="E8ECF1"/>
                </a:solidFill>
                <a:latin typeface="MiSans"/>
                <a:ea typeface="MiSans"/>
              </a:rPr>
              <a:t> </a:t>
            </a:r>
            <a:r>
              <a:rPr b="1" sz="1275" noProof="1">
                <a:solidFill>
                  <a:srgbClr val="E8ECF1"/>
                </a:solidFill>
                <a:latin typeface="MiSans"/>
                <a:ea typeface="MiSans"/>
              </a:rPr>
              <a:t>Regulatory overhang</a:t>
            </a:r>
            <a:r>
              <a:rPr sz="1275" noProof="1">
                <a:solidFill>
                  <a:srgbClr val="E8ECF1"/>
                </a:solidFill>
                <a:latin typeface="MiSans"/>
                <a:ea typeface="MiSans"/>
              </a:rPr>
              <a:t> — EU fines keep coming</a:t>
            </a:r>
          </a:p>
          <a:p>
            <a:pPr algn="l">
              <a:lnSpc>
                <a:spcPct val="170000"/>
              </a:lnSpc>
            </a:pPr>
            <a:r>
              <a:rPr sz="1275" noProof="1">
                <a:solidFill>
                  <a:srgbClr val="EA4335"/>
                </a:solidFill>
                <a:latin typeface="MiSans"/>
                <a:ea typeface="MiSans"/>
              </a:rPr>
              <a:t>▸</a:t>
            </a:r>
            <a:r>
              <a:rPr sz="1275" noProof="1">
                <a:solidFill>
                  <a:srgbClr val="E8ECF1"/>
                </a:solidFill>
                <a:latin typeface="MiSans"/>
                <a:ea typeface="MiSans"/>
              </a:rPr>
              <a:t> </a:t>
            </a:r>
            <a:r>
              <a:rPr b="1" sz="1275" noProof="1">
                <a:solidFill>
                  <a:srgbClr val="E8ECF1"/>
                </a:solidFill>
                <a:latin typeface="MiSans"/>
                <a:ea typeface="MiSans"/>
              </a:rPr>
              <a:t>Search disruption risk</a:t>
            </a:r>
            <a:r>
              <a:rPr sz="1275" noProof="1">
                <a:solidFill>
                  <a:srgbClr val="E8ECF1"/>
                </a:solidFill>
                <a:latin typeface="MiSans"/>
                <a:ea typeface="MiSans"/>
              </a:rPr>
              <a:t> — long-term AI threat</a:t>
            </a:r>
          </a:p>
          <a:p>
            <a:pPr algn="l">
              <a:lnSpc>
                <a:spcPct val="170000"/>
              </a:lnSpc>
            </a:pPr>
            <a:r>
              <a:rPr sz="1275" noProof="1">
                <a:solidFill>
                  <a:srgbClr val="EA4335"/>
                </a:solidFill>
                <a:latin typeface="MiSans"/>
                <a:ea typeface="MiSans"/>
              </a:rPr>
              <a:t>▸</a:t>
            </a:r>
            <a:r>
              <a:rPr sz="1275" noProof="1">
                <a:solidFill>
                  <a:srgbClr val="E8ECF1"/>
                </a:solidFill>
                <a:latin typeface="MiSans"/>
                <a:ea typeface="MiSans"/>
              </a:rPr>
              <a:t> </a:t>
            </a:r>
            <a:r>
              <a:rPr b="1" sz="1275" noProof="1">
                <a:solidFill>
                  <a:srgbClr val="E8ECF1"/>
                </a:solidFill>
                <a:latin typeface="MiSans"/>
                <a:ea typeface="MiSans"/>
              </a:rPr>
              <a:t>Competition intensifying</a:t>
            </a:r>
            <a:r>
              <a:rPr sz="1275" noProof="1">
                <a:solidFill>
                  <a:srgbClr val="E8ECF1"/>
                </a:solidFill>
                <a:latin typeface="MiSans"/>
                <a:ea typeface="MiSans"/>
              </a:rPr>
              <a:t> — LLM market crowded</a:t>
            </a:r>
          </a:p>
          <a:p>
            <a:pPr algn="l">
              <a:lnSpc>
                <a:spcPct val="170000"/>
              </a:lnSpc>
              <a:spcBef>
                <a:spcPts val="1200"/>
              </a:spcBef>
            </a:pPr>
            <a:r>
              <a:rPr sz="1275" noProof="1">
                <a:solidFill>
                  <a:srgbClr val="EA4335"/>
                </a:solidFill>
                <a:latin typeface="MiSans"/>
                <a:ea typeface="MiSans"/>
              </a:rPr>
              <a:t>▸</a:t>
            </a:r>
            <a:r>
              <a:rPr sz="1275" noProof="1">
                <a:solidFill>
                  <a:srgbClr val="E8ECF1"/>
                </a:solidFill>
                <a:latin typeface="MiSans"/>
                <a:ea typeface="MiSans"/>
              </a:rPr>
              <a:t> </a:t>
            </a:r>
            <a:r>
              <a:rPr b="1" sz="1275" noProof="1">
                <a:solidFill>
                  <a:srgbClr val="E8ECF1"/>
                </a:solidFill>
                <a:latin typeface="MiSans"/>
                <a:ea typeface="MiSans"/>
              </a:rPr>
              <a:t>"Bubble?"</a:t>
            </a:r>
          </a:p>
          <a:p>
            <a:pPr algn="l">
              <a:lnSpc>
                <a:spcPct val="170000"/>
              </a:lnSpc>
            </a:pPr>
            <a:r>
              <a:rPr sz="1050" noProof="1">
                <a:solidFill>
                  <a:srgbClr val="8B95A5"/>
                </a:solidFill>
                <a:latin typeface="MiSans"/>
                <a:ea typeface="MiSans"/>
              </a:rPr>
              <a:t>infrastructure spending may not ROI</a:t>
            </a:r>
          </a:p>
        </p:txBody>
      </p:sp>
      <p:sp>
        <p:nvSpPr>
          <p:cNvPr id="14" name="dsl:question-bg"/>
          <p:cNvSpPr/>
          <p:nvPr/>
        </p:nvSpPr>
        <p:spPr>
          <a:xfrm>
            <a:off x="571500" y="5143500"/>
            <a:ext cx="11049000" cy="952500"/>
          </a:xfrm>
          <a:prstGeom prst="roundRect">
            <a:avLst>
              <a:gd name="adj" fmla="val 8000"/>
            </a:avLst>
          </a:prstGeom>
          <a:solidFill>
            <a:srgbClr val="1E2746"/>
          </a:solidFill>
          <a:ln w="12700">
            <a:solidFill>
              <a:srgbClr val="2A3550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dsl:question-icon|i=fas:circle-question" descr="tmpangjomx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" y="5410200"/>
            <a:ext cx="266700" cy="266700"/>
          </a:xfrm>
          <a:prstGeom prst="rect">
            <a:avLst/>
          </a:prstGeom>
          <a:ln>
            <a:noFill/>
          </a:ln>
          <a:effectLst/>
        </p:spPr>
      </p:pic>
      <p:sp>
        <p:nvSpPr>
          <p:cNvPr id="16" name="dsl:question-text"/>
          <p:cNvSpPr txBox="1"/>
          <p:nvPr/>
        </p:nvSpPr>
        <p:spPr>
          <a:xfrm>
            <a:off x="1238250" y="5286375"/>
            <a:ext cx="10096500" cy="66675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50000"/>
              </a:lnSpc>
            </a:pPr>
            <a:r>
              <a:rPr b="1" sz="1500" noProof="1">
                <a:solidFill>
                  <a:srgbClr val="E8ECF1"/>
                </a:solidFill>
                <a:latin typeface="MiSans"/>
                <a:ea typeface="MiSans"/>
              </a:rPr>
              <a:t>The Key Question:</a:t>
            </a:r>
            <a:r>
              <a:rPr sz="1500" noProof="1">
                <a:solidFill>
                  <a:srgbClr val="E8ECF1"/>
                </a:solidFill>
                <a:latin typeface="MiSans"/>
                <a:ea typeface="MiSans"/>
              </a:rPr>
              <a:t> Is $93B in infrastructure spending </a:t>
            </a:r>
            <a:r>
              <a:rPr sz="1500" noProof="1">
                <a:solidFill>
                  <a:srgbClr val="34A853"/>
                </a:solidFill>
                <a:latin typeface="MiSans"/>
                <a:ea typeface="MiSans"/>
              </a:rPr>
              <a:t>buying a moat</a:t>
            </a:r>
            <a:r>
              <a:rPr sz="1500" noProof="1">
                <a:solidFill>
                  <a:srgbClr val="E8ECF1"/>
                </a:solidFill>
                <a:latin typeface="MiSans"/>
                <a:ea typeface="MiSans"/>
              </a:rPr>
              <a:t> or </a:t>
            </a:r>
            <a:r>
              <a:rPr sz="1500" noProof="1">
                <a:solidFill>
                  <a:srgbClr val="EA4335"/>
                </a:solidFill>
                <a:latin typeface="MiSans"/>
                <a:ea typeface="MiSans"/>
              </a:rPr>
              <a:t>inflating a bubble</a:t>
            </a:r>
            <a:r>
              <a:rPr sz="1500" noProof="1">
                <a:solidFill>
                  <a:srgbClr val="E8ECF1"/>
                </a:solidFill>
                <a:latin typeface="MiSans"/>
                <a:ea typeface="MiSans"/>
              </a:rPr>
              <a:t>?</a:t>
            </a:r>
          </a:p>
        </p:txBody>
      </p:sp>
      <p:sp>
        <p:nvSpPr>
          <p:cNvPr id="17" name="dsl:source|s=$caption"/>
          <p:cNvSpPr txBox="1"/>
          <p:nvPr/>
        </p:nvSpPr>
        <p:spPr>
          <a:xfrm>
            <a:off x="571500" y="6191250"/>
            <a:ext cx="6667500" cy="1905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>
              <a:lnSpc>
                <a:spcPct val="140000"/>
              </a:lnSpc>
            </a:pPr>
            <a:r>
              <a:rPr sz="1050" noProof="1">
                <a:solidFill>
                  <a:srgbClr val="8B95A5"/>
                </a:solidFill>
                <a:latin typeface="MiSans"/>
                <a:ea typeface="MiSans"/>
              </a:rPr>
              <a:t>Source: Reddit r/investing, Hacker News, X discussions  ·  </a:t>
            </a:r>
            <a:r>
              <a:rPr sz="1050" noProof="1">
                <a:solidFill>
                  <a:srgbClr val="8B95A5"/>
                </a:solidFill>
                <a:latin typeface="MiSans"/>
                <a:ea typeface="MiSans"/>
                <a:hlinkClick r:id="rId5"/>
              </a:rPr>
              <a:t>Vizplainer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title-bar"/>
          <p:cNvSpPr/>
          <p:nvPr/>
        </p:nvSpPr>
        <p:spPr>
          <a:xfrm>
            <a:off x="571500" y="381000"/>
            <a:ext cx="38100" cy="381000"/>
          </a:xfrm>
          <a:prstGeom prst="rect">
            <a:avLst/>
          </a:prstGeom>
          <a:solidFill>
            <a:srgbClr val="428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sl:page-title|s=$title"/>
          <p:cNvSpPr txBox="1"/>
          <p:nvPr/>
        </p:nvSpPr>
        <p:spPr>
          <a:xfrm>
            <a:off x="762000" y="333375"/>
            <a:ext cx="5715000" cy="4762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b="1" sz="2400" noProof="1" spc="-37">
                <a:solidFill>
                  <a:srgbClr val="E8ECF1"/>
                </a:solidFill>
                <a:latin typeface="MiSans"/>
                <a:ea typeface="MiSans"/>
              </a:rPr>
              <a:t>The Bottom Line</a:t>
            </a:r>
          </a:p>
        </p:txBody>
      </p:sp>
      <p:sp>
        <p:nvSpPr>
          <p:cNvPr id="4" name="dsl:conclusion-card-bg"/>
          <p:cNvSpPr/>
          <p:nvPr/>
        </p:nvSpPr>
        <p:spPr>
          <a:xfrm>
            <a:off x="571500" y="1047750"/>
            <a:ext cx="11049000" cy="1714500"/>
          </a:xfrm>
          <a:prstGeom prst="roundRect">
            <a:avLst>
              <a:gd name="adj" fmla="val 8000"/>
            </a:avLst>
          </a:prstGeom>
          <a:gradFill rotWithShape="1">
            <a:gsLst>
              <a:gs pos="0">
                <a:srgbClr val="4285F4">
                  <a:alpha val="12549"/>
                </a:srgbClr>
              </a:gs>
              <a:gs pos="100000">
                <a:srgbClr val="141B2D"/>
              </a:gs>
            </a:gsLst>
            <a:lin scaled="0" ang="5400000"/>
          </a:gradFill>
          <a:ln w="12700">
            <a:solidFill>
              <a:srgbClr val="4285F4">
                <a:alpha val="25098"/>
              </a:srgbClr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dsl:conclusion-icon|i=fas:bullseye" descr="tmprh0mqgpu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7250" y="1333500"/>
            <a:ext cx="381000" cy="381000"/>
          </a:xfrm>
          <a:prstGeom prst="rect">
            <a:avLst/>
          </a:prstGeom>
          <a:ln>
            <a:noFill/>
          </a:ln>
          <a:effectLst/>
        </p:spPr>
      </p:pic>
      <p:sp>
        <p:nvSpPr>
          <p:cNvPr id="6" name="dsl:conclusion-text"/>
          <p:cNvSpPr txBox="1"/>
          <p:nvPr/>
        </p:nvSpPr>
        <p:spPr>
          <a:xfrm>
            <a:off x="1428750" y="1238250"/>
            <a:ext cx="9906000" cy="13335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60000"/>
              </a:lnSpc>
            </a:pPr>
            <a:r>
              <a:rPr sz="1500" noProof="1">
                <a:solidFill>
                  <a:srgbClr val="E8ECF1"/>
                </a:solidFill>
                <a:latin typeface="MiSans"/>
                <a:ea typeface="MiSans"/>
              </a:rPr>
              <a:t>The fear that search would </a:t>
            </a:r>
            <a:r>
              <a:rPr b="1" sz="1500" noProof="1">
                <a:solidFill>
                  <a:srgbClr val="E8ECF1"/>
                </a:solidFill>
                <a:latin typeface="MiSans"/>
                <a:ea typeface="MiSans"/>
              </a:rPr>
              <a:t>vanish overnight</a:t>
            </a:r>
            <a:r>
              <a:rPr sz="1500" noProof="1">
                <a:solidFill>
                  <a:srgbClr val="E8ECF1"/>
                </a:solidFill>
                <a:latin typeface="MiSans"/>
                <a:ea typeface="MiSans"/>
              </a:rPr>
              <a:t> due to chatbots hasn't materialized.</a:t>
            </a:r>
          </a:p>
          <a:p>
            <a:pPr algn="l">
              <a:lnSpc>
                <a:spcPct val="160000"/>
              </a:lnSpc>
              <a:spcBef>
                <a:spcPts val="600"/>
              </a:spcBef>
            </a:pPr>
            <a:r>
              <a:rPr sz="1500" noProof="1">
                <a:solidFill>
                  <a:srgbClr val="34A853"/>
                </a:solidFill>
                <a:latin typeface="MiSans"/>
                <a:ea typeface="MiSans"/>
              </a:rPr>
              <a:t>▲</a:t>
            </a:r>
            <a:r>
              <a:rPr sz="1500" noProof="1">
                <a:solidFill>
                  <a:srgbClr val="E8ECF1"/>
                </a:solidFill>
                <a:latin typeface="MiSans"/>
                <a:ea typeface="MiSans"/>
              </a:rPr>
              <a:t> "Search &amp; Other" revenue is up </a:t>
            </a:r>
            <a:r>
              <a:rPr b="1" sz="1500" noProof="1">
                <a:solidFill>
                  <a:srgbClr val="E8ECF1"/>
                </a:solidFill>
                <a:latin typeface="MiSans"/>
                <a:ea typeface="MiSans"/>
              </a:rPr>
              <a:t>double digits</a:t>
            </a:r>
          </a:p>
          <a:p>
            <a:pPr algn="l">
              <a:lnSpc>
                <a:spcPct val="160000"/>
              </a:lnSpc>
            </a:pPr>
            <a:r>
              <a:rPr sz="1500" noProof="1">
                <a:solidFill>
                  <a:srgbClr val="34A853"/>
                </a:solidFill>
                <a:latin typeface="MiSans"/>
                <a:ea typeface="MiSans"/>
              </a:rPr>
              <a:t>▲</a:t>
            </a:r>
            <a:r>
              <a:rPr sz="1500" noProof="1">
                <a:solidFill>
                  <a:srgbClr val="E8ECF1"/>
                </a:solidFill>
                <a:latin typeface="MiSans"/>
                <a:ea typeface="MiSans"/>
              </a:rPr>
              <a:t> </a:t>
            </a:r>
            <a:r>
              <a:rPr b="1" sz="1500" noProof="1">
                <a:solidFill>
                  <a:srgbClr val="E8ECF1"/>
                </a:solidFill>
                <a:latin typeface="MiSans"/>
                <a:ea typeface="MiSans"/>
              </a:rPr>
              <a:t>650 million</a:t>
            </a:r>
            <a:r>
              <a:rPr sz="1500" noProof="1">
                <a:solidFill>
                  <a:srgbClr val="E8ECF1"/>
                </a:solidFill>
                <a:latin typeface="MiSans"/>
                <a:ea typeface="MiSans"/>
              </a:rPr>
              <a:t> monthly active users on the Gemini App</a:t>
            </a:r>
          </a:p>
          <a:p>
            <a:pPr algn="l">
              <a:lnSpc>
                <a:spcPct val="160000"/>
              </a:lnSpc>
            </a:pPr>
            <a:r>
              <a:rPr sz="1500" noProof="1">
                <a:solidFill>
                  <a:srgbClr val="34A853"/>
                </a:solidFill>
                <a:latin typeface="MiSans"/>
                <a:ea typeface="MiSans"/>
              </a:rPr>
              <a:t>▲</a:t>
            </a:r>
            <a:r>
              <a:rPr sz="1500" noProof="1">
                <a:solidFill>
                  <a:srgbClr val="E8ECF1"/>
                </a:solidFill>
                <a:latin typeface="MiSans"/>
                <a:ea typeface="MiSans"/>
              </a:rPr>
              <a:t> Successfully managing the transition from traditional search to an </a:t>
            </a:r>
            <a:r>
              <a:rPr b="1" sz="1500" noProof="1">
                <a:solidFill>
                  <a:srgbClr val="E8ECF1"/>
                </a:solidFill>
                <a:latin typeface="MiSans"/>
                <a:ea typeface="MiSans"/>
              </a:rPr>
              <a:t>AI-first model</a:t>
            </a:r>
          </a:p>
        </p:txBody>
      </p:sp>
      <p:sp>
        <p:nvSpPr>
          <p:cNvPr id="7" name="dsl:for-builders-bg"/>
          <p:cNvSpPr/>
          <p:nvPr/>
        </p:nvSpPr>
        <p:spPr>
          <a:xfrm>
            <a:off x="571500" y="3048000"/>
            <a:ext cx="5286375" cy="1714500"/>
          </a:xfrm>
          <a:prstGeom prst="roundRect">
            <a:avLst>
              <a:gd name="adj" fmla="val 8000"/>
            </a:avLst>
          </a:prstGeom>
          <a:solidFill>
            <a:srgbClr val="141B2D"/>
          </a:solidFill>
          <a:ln w="12700">
            <a:solidFill>
              <a:srgbClr val="2A3550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dsl:for-builders-icon|i=fas:code" descr="tmp61iuiqk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9625" y="3286125"/>
            <a:ext cx="266700" cy="266700"/>
          </a:xfrm>
          <a:prstGeom prst="rect">
            <a:avLst/>
          </a:prstGeom>
          <a:ln>
            <a:noFill/>
          </a:ln>
          <a:effectLst/>
        </p:spPr>
      </p:pic>
      <p:sp>
        <p:nvSpPr>
          <p:cNvPr id="9" name="dsl:for-builders-title"/>
          <p:cNvSpPr txBox="1"/>
          <p:nvPr/>
        </p:nvSpPr>
        <p:spPr>
          <a:xfrm>
            <a:off x="1190625" y="3238500"/>
            <a:ext cx="2857500" cy="3429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b="1" sz="1500" noProof="1">
                <a:solidFill>
                  <a:srgbClr val="4285F4"/>
                </a:solidFill>
                <a:latin typeface="MiSans"/>
                <a:ea typeface="MiSans"/>
              </a:rPr>
              <a:t>For Builders</a:t>
            </a:r>
          </a:p>
        </p:txBody>
      </p:sp>
      <p:sp>
        <p:nvSpPr>
          <p:cNvPr id="10" name="dsl:for-builders-body"/>
          <p:cNvSpPr txBox="1"/>
          <p:nvPr/>
        </p:nvSpPr>
        <p:spPr>
          <a:xfrm>
            <a:off x="809625" y="3667125"/>
            <a:ext cx="4857750" cy="9525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60000"/>
              </a:lnSpc>
            </a:pPr>
            <a:r>
              <a:rPr sz="1200" noProof="1">
                <a:solidFill>
                  <a:srgbClr val="E8ECF1"/>
                </a:solidFill>
                <a:latin typeface="MiSans"/>
                <a:ea typeface="MiSans"/>
              </a:rPr>
              <a:t>The infrastructure is scaling fast. Gemini's 7B tokens/minute and GCP's 34% growth signal a mature AI platform ready for enterprise workloads.</a:t>
            </a:r>
          </a:p>
        </p:txBody>
      </p:sp>
      <p:sp>
        <p:nvSpPr>
          <p:cNvPr id="11" name="dsl:for-investors-bg"/>
          <p:cNvSpPr/>
          <p:nvPr/>
        </p:nvSpPr>
        <p:spPr>
          <a:xfrm>
            <a:off x="6143625" y="3048000"/>
            <a:ext cx="5476875" cy="1714500"/>
          </a:xfrm>
          <a:prstGeom prst="roundRect">
            <a:avLst>
              <a:gd name="adj" fmla="val 8000"/>
            </a:avLst>
          </a:prstGeom>
          <a:solidFill>
            <a:srgbClr val="141B2D"/>
          </a:solidFill>
          <a:ln w="12700">
            <a:solidFill>
              <a:srgbClr val="2A3550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dsl:for-investors-icon|i=fas:chart-pie" descr="tmpn3etwkp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81750" y="3286125"/>
            <a:ext cx="266700" cy="266700"/>
          </a:xfrm>
          <a:prstGeom prst="rect">
            <a:avLst/>
          </a:prstGeom>
          <a:ln>
            <a:noFill/>
          </a:ln>
          <a:effectLst/>
        </p:spPr>
      </p:pic>
      <p:sp>
        <p:nvSpPr>
          <p:cNvPr id="13" name="dsl:for-investors-title"/>
          <p:cNvSpPr txBox="1"/>
          <p:nvPr/>
        </p:nvSpPr>
        <p:spPr>
          <a:xfrm>
            <a:off x="6762750" y="3238500"/>
            <a:ext cx="2857500" cy="3429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b="1" sz="1500" noProof="1">
                <a:solidFill>
                  <a:srgbClr val="34A853"/>
                </a:solidFill>
                <a:latin typeface="MiSans"/>
                <a:ea typeface="MiSans"/>
              </a:rPr>
              <a:t>For Investors</a:t>
            </a:r>
          </a:p>
        </p:txBody>
      </p:sp>
      <p:sp>
        <p:nvSpPr>
          <p:cNvPr id="14" name="dsl:for-investors-body"/>
          <p:cNvSpPr txBox="1"/>
          <p:nvPr/>
        </p:nvSpPr>
        <p:spPr>
          <a:xfrm>
            <a:off x="6381750" y="3667125"/>
            <a:ext cx="5048250" cy="9525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60000"/>
              </a:lnSpc>
            </a:pPr>
            <a:r>
              <a:rPr sz="1200" noProof="1">
                <a:solidFill>
                  <a:srgbClr val="E8ECF1"/>
                </a:solidFill>
                <a:latin typeface="MiSans"/>
                <a:ea typeface="MiSans"/>
              </a:rPr>
              <a:t>The $93B CapEx bill is hefty, but right now, it looks like it's buying an </a:t>
            </a:r>
            <a:r>
              <a:rPr b="1" sz="1200" noProof="1">
                <a:solidFill>
                  <a:srgbClr val="E8ECF1"/>
                </a:solidFill>
                <a:latin typeface="MiSans"/>
                <a:ea typeface="MiSans"/>
              </a:rPr>
              <a:t>insurmountable moat</a:t>
            </a:r>
            <a:r>
              <a:rPr sz="1200" noProof="1">
                <a:solidFill>
                  <a:srgbClr val="E8ECF1"/>
                </a:solidFill>
                <a:latin typeface="MiSans"/>
                <a:ea typeface="MiSans"/>
              </a:rPr>
              <a:t>. Margins prove capital efficiency.</a:t>
            </a:r>
          </a:p>
        </p:txBody>
      </p:sp>
      <p:sp>
        <p:nvSpPr>
          <p:cNvPr id="15" name="dsl:final-quote-bg"/>
          <p:cNvSpPr/>
          <p:nvPr/>
        </p:nvSpPr>
        <p:spPr>
          <a:xfrm>
            <a:off x="571500" y="5048250"/>
            <a:ext cx="11049000" cy="952500"/>
          </a:xfrm>
          <a:prstGeom prst="roundRect">
            <a:avLst>
              <a:gd name="adj" fmla="val 8000"/>
            </a:avLst>
          </a:prstGeom>
          <a:solidFill>
            <a:srgbClr val="141B2D"/>
          </a:solidFill>
          <a:ln w="12700">
            <a:solidFill>
              <a:srgbClr val="2A3550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dsl:final-quote"/>
          <p:cNvSpPr txBox="1"/>
          <p:nvPr/>
        </p:nvSpPr>
        <p:spPr>
          <a:xfrm>
            <a:off x="857250" y="5191125"/>
            <a:ext cx="10477500" cy="66675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lnSpc>
                <a:spcPct val="150000"/>
              </a:lnSpc>
            </a:pPr>
            <a:r>
              <a:rPr i="1" sz="1500" noProof="1">
                <a:solidFill>
                  <a:srgbClr val="E8ECF1"/>
                </a:solidFill>
                <a:latin typeface="MiSans"/>
                <a:ea typeface="MiSans"/>
              </a:rPr>
              <a:t>"The Google 'death spiral' narrative is officially dead."</a:t>
            </a:r>
          </a:p>
        </p:txBody>
      </p:sp>
      <p:sp>
        <p:nvSpPr>
          <p:cNvPr id="17" name="dsl:source|s=$caption"/>
          <p:cNvSpPr txBox="1"/>
          <p:nvPr/>
        </p:nvSpPr>
        <p:spPr>
          <a:xfrm>
            <a:off x="571500" y="6191250"/>
            <a:ext cx="5715000" cy="1905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>
              <a:lnSpc>
                <a:spcPct val="140000"/>
              </a:lnSpc>
            </a:pPr>
            <a:r>
              <a:rPr sz="1050" noProof="1">
                <a:solidFill>
                  <a:srgbClr val="8B95A5"/>
                </a:solidFill>
                <a:latin typeface="MiSans"/>
                <a:ea typeface="MiSans"/>
              </a:rPr>
              <a:t>Source: Alphabet Q3 2025 Earnings  ·  </a:t>
            </a:r>
            <a:r>
              <a:rPr sz="1050" noProof="1">
                <a:solidFill>
                  <a:srgbClr val="8B95A5"/>
                </a:solidFill>
                <a:latin typeface="MiSans"/>
                <a:ea typeface="MiSans"/>
                <a:hlinkClick r:id="rId5"/>
              </a:rPr>
              <a:t>Vizplainer Analysis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A0E1A"/>
            </a:gs>
            <a:gs pos="50000">
              <a:srgbClr val="0F1530"/>
            </a:gs>
            <a:gs pos="100000">
              <a:srgbClr val="141B2D"/>
            </a:gs>
          </a:gsLst>
          <a:lin scaled="1" ang="8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dsl:bg-glow"/>
          <p:cNvSpPr/>
          <p:nvPr/>
        </p:nvSpPr>
        <p:spPr>
          <a:xfrm>
            <a:off x="4191000" y="952500"/>
            <a:ext cx="3810000" cy="3810000"/>
          </a:xfrm>
          <a:prstGeom prst="ellipse">
            <a:avLst/>
          </a:prstGeom>
          <a:gradFill rotWithShape="1">
            <a:gsLst>
              <a:gs pos="0">
                <a:srgbClr val="4285F4">
                  <a:alpha val="8235"/>
                </a:srgbClr>
              </a:gs>
              <a:gs pos="100000">
                <a:srgbClr val="4285F4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sl:question-mark"/>
          <p:cNvSpPr txBox="1"/>
          <p:nvPr/>
        </p:nvSpPr>
        <p:spPr>
          <a:xfrm>
            <a:off x="3238500" y="1524000"/>
            <a:ext cx="5715000" cy="7620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/>
            <a:r>
              <a:rPr sz="5400" noProof="1">
                <a:solidFill>
                  <a:srgbClr val="4285F4"/>
                </a:solidFill>
                <a:latin typeface="MiSans"/>
                <a:ea typeface="MiSans"/>
              </a:rPr>
              <a:t>?</a:t>
            </a:r>
          </a:p>
        </p:txBody>
      </p:sp>
      <p:sp>
        <p:nvSpPr>
          <p:cNvPr id="4" name="dsl:main-question"/>
          <p:cNvSpPr txBox="1"/>
          <p:nvPr/>
        </p:nvSpPr>
        <p:spPr>
          <a:xfrm>
            <a:off x="1333500" y="2476500"/>
            <a:ext cx="9525000" cy="9525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b="1" sz="2700" noProof="1">
                <a:solidFill>
                  <a:srgbClr val="E8ECF1"/>
                </a:solidFill>
                <a:latin typeface="MiSans"/>
                <a:ea typeface="MiSans"/>
              </a:rPr>
              <a:t>Is $93 billion in infrastructure spending</a:t>
            </a:r>
          </a:p>
          <a:p>
            <a:pPr algn="ctr">
              <a:lnSpc>
                <a:spcPct val="130000"/>
              </a:lnSpc>
            </a:pPr>
            <a:r>
              <a:rPr b="1" sz="2700" noProof="1">
                <a:solidFill>
                  <a:srgbClr val="34A853"/>
                </a:solidFill>
                <a:latin typeface="MiSans"/>
                <a:ea typeface="MiSans"/>
              </a:rPr>
              <a:t>sustainable</a:t>
            </a:r>
            <a:r>
              <a:rPr b="1" sz="2700" noProof="1">
                <a:solidFill>
                  <a:srgbClr val="E8ECF1"/>
                </a:solidFill>
                <a:latin typeface="MiSans"/>
                <a:ea typeface="MiSans"/>
              </a:rPr>
              <a:t>, or is this a </a:t>
            </a:r>
            <a:r>
              <a:rPr b="1" sz="2700" noProof="1">
                <a:solidFill>
                  <a:srgbClr val="EA4335"/>
                </a:solidFill>
                <a:latin typeface="MiSans"/>
                <a:ea typeface="MiSans"/>
              </a:rPr>
              <a:t>bubble</a:t>
            </a:r>
            <a:r>
              <a:rPr b="1" sz="2700" noProof="1">
                <a:solidFill>
                  <a:srgbClr val="E8ECF1"/>
                </a:solidFill>
                <a:latin typeface="MiSans"/>
                <a:ea typeface="MiSans"/>
              </a:rPr>
              <a:t>?</a:t>
            </a:r>
          </a:p>
        </p:txBody>
      </p:sp>
      <p:sp>
        <p:nvSpPr>
          <p:cNvPr id="5" name="dsl:divider"/>
          <p:cNvSpPr/>
          <p:nvPr/>
        </p:nvSpPr>
        <p:spPr>
          <a:xfrm>
            <a:off x="5143500" y="3714750"/>
            <a:ext cx="1905000" cy="19050"/>
          </a:xfrm>
          <a:prstGeom prst="rect">
            <a:avLst/>
          </a:prstGeom>
          <a:solidFill>
            <a:srgbClr val="2A3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dsl:cta-text"/>
          <p:cNvSpPr txBox="1"/>
          <p:nvPr/>
        </p:nvSpPr>
        <p:spPr>
          <a:xfrm>
            <a:off x="2762250" y="4000500"/>
            <a:ext cx="6667500" cy="5715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lnSpc>
                <a:spcPct val="150000"/>
              </a:lnSpc>
            </a:pPr>
            <a:r>
              <a:rPr sz="1500" noProof="1">
                <a:solidFill>
                  <a:srgbClr val="8B95A5"/>
                </a:solidFill>
                <a:latin typeface="MiSans"/>
                <a:ea typeface="MiSans"/>
              </a:rPr>
              <a:t>Let us know what you think — catch you in the next update.</a:t>
            </a:r>
          </a:p>
        </p:txBody>
      </p:sp>
      <p:sp>
        <p:nvSpPr>
          <p:cNvPr id="7" name="dsl:badge-bg"/>
          <p:cNvSpPr/>
          <p:nvPr/>
        </p:nvSpPr>
        <p:spPr>
          <a:xfrm>
            <a:off x="4191000" y="4953000"/>
            <a:ext cx="3810000" cy="342900"/>
          </a:xfrm>
          <a:prstGeom prst="roundRect">
            <a:avLst>
              <a:gd name="adj" fmla="val 50000"/>
            </a:avLst>
          </a:prstGeom>
          <a:solidFill>
            <a:srgbClr val="141B2D"/>
          </a:solidFill>
          <a:ln w="12700">
            <a:solidFill>
              <a:srgbClr val="2A3550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dsl:badge-text"/>
          <p:cNvSpPr txBox="1"/>
          <p:nvPr/>
        </p:nvSpPr>
        <p:spPr>
          <a:xfrm>
            <a:off x="4191000" y="4953000"/>
            <a:ext cx="3810000" cy="3429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/>
            <a:r>
              <a:rPr sz="1050" noProof="1">
                <a:solidFill>
                  <a:srgbClr val="8B95A5"/>
                </a:solidFill>
                <a:latin typeface="MiSans"/>
                <a:ea typeface="MiSans"/>
              </a:rPr>
              <a:t>Powered by </a:t>
            </a:r>
            <a:r>
              <a:rPr sz="1050" noProof="1">
                <a:solidFill>
                  <a:srgbClr val="8B95A5"/>
                </a:solidFill>
                <a:latin typeface="MiSans"/>
                <a:ea typeface="MiSans"/>
                <a:hlinkClick r:id="rId2"/>
              </a:rPr>
              <a:t>Vizplainer</a:t>
            </a:r>
            <a:r>
              <a:rPr sz="1050" noProof="1">
                <a:solidFill>
                  <a:srgbClr val="8B95A5"/>
                </a:solidFill>
                <a:latin typeface="MiSans"/>
                <a:ea typeface="MiSans"/>
              </a:rPr>
              <a:t>  ·  Reddit  ·  HN  ·  X</a:t>
            </a:r>
          </a:p>
        </p:txBody>
      </p:sp>
      <p:sp>
        <p:nvSpPr>
          <p:cNvPr id="9" name="dsl:bottom-text"/>
          <p:cNvSpPr txBox="1"/>
          <p:nvPr/>
        </p:nvSpPr>
        <p:spPr>
          <a:xfrm>
            <a:off x="3714750" y="5715000"/>
            <a:ext cx="4762500" cy="2286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/>
            <a:r>
              <a:rPr sz="900" noProof="1">
                <a:solidFill>
                  <a:srgbClr val="8B95A5"/>
                </a:solidFill>
                <a:latin typeface="MiSans"/>
                <a:ea typeface="MiSans"/>
              </a:rPr>
              <a:t>Alphabet Q3 2025 Earnings Deep Dive  ·  July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item1.xml><?xml version="1.0" encoding="utf-8"?>
<DslMetadata>
  <Colors>
    <Color name="primary" value="#4285F4"/>
    <Color name="secondary" value="#34A853"/>
    <Color name="accent" value="#EA4335"/>
    <Color name="highlight" value="#FBBC05"/>
    <Color name="background" value="#0A0E1A"/>
    <Color name="surface" value="#141B2D"/>
    <Color name="surfaceLight" value="#1E2746"/>
    <Color name="text" value="#E8ECF1"/>
    <Color name="textMuted" value="#8B95A5"/>
    <Color name="border" value="#2A3550"/>
  </Colors>
  <TextStyles>
    <TextStyle name="heroTitle" font_size="56.0" color="$text" font_family="MiSans" letter_spacing="-1.0"/>
    <TextStyle name="title" font_size="40.0" color="$text" font_family="MiSans" letter_spacing="-0.5"/>
    <TextStyle name="subtitle" font_size="24.0" color="$textMuted" font_family="MiSans" line_height="1.4"/>
    <TextStyle name="body" font_size="18.0" color="$text" font_family="MiSans" line_height="1.6"/>
    <TextStyle name="caption" font_size="14.0" color="$textMuted" font_family="MiSans" line_height="1.4"/>
    <TextStyle name="dataNumber" font_size="48.0" color="$primary" font_family="MiSans" letter_spacing="-1.0"/>
    <TextStyle name="label" font_size="12.0" color="$textMuted" font_family="MiSans" letter_spacing="1.0"/>
  </TextStyles>
</DslMetadata>
</file>

<file path=customXml/itemProps1.xml><?xml version="1.0" encoding="utf-8"?>
<ns0:datastoreItem xmlns:ns0="http://schemas.openxmlformats.org/officeDocument/2006/customXml" ns0:itemID="{7F4458B3-F52C-454B-8039-204D519558B8}">
  <ns0:schemaRefs/>
</ns0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